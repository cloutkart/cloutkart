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54864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77800" cy="310896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ava_logo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640080"/>
            <a:ext cx="1147156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9326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8C00"/>
                </a:solidFill>
                <a:latin typeface="Calibri"/>
              </a:rPr>
              <a:t>ENTERPRISE JAVA · 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Advanced Java Architecture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and Enterprise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862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B9C8E6"/>
                </a:solidFill>
                <a:latin typeface="Calibri"/>
              </a:rPr>
              <a:t>An Exhaustive Examination Report — Presentation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235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052CC"/>
                </a:solidFill>
                <a:latin typeface="Calibri"/>
              </a:rPr>
              <a:t>JDBC</a:t>
            </a:r>
            <a:r>
              <a:rPr sz="1600" b="1">
                <a:solidFill>
                  <a:srgbClr val="F28C00"/>
                </a:solidFill>
                <a:latin typeface="Calibri"/>
              </a:rPr>
              <a:t>      Remote Method Invocation (RMI)</a:t>
            </a:r>
            <a:r>
              <a:rPr sz="1600" b="1">
                <a:solidFill>
                  <a:srgbClr val="0B7A3B"/>
                </a:solidFill>
                <a:latin typeface="Calibri"/>
              </a:rPr>
              <a:t>      Java Servlets</a:t>
            </a:r>
            <a:r>
              <a:rPr sz="1600" b="1">
                <a:solidFill>
                  <a:srgbClr val="B9C8E6"/>
                </a:solidFill>
                <a:latin typeface="Calibri"/>
              </a:rPr>
              <a:t>      Applets &amp; AWT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Introduction to Enterprise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900"/>
              </a:spcAft>
            </a:pPr>
            <a:r>
              <a:rPr sz="1900" b="1">
                <a:solidFill>
                  <a:srgbClr val="0052CC"/>
                </a:solidFill>
                <a:latin typeface="Calibri"/>
              </a:rPr>
              <a:t>▸  </a:t>
            </a:r>
            <a:r>
              <a:rPr sz="1900" b="1">
                <a:solidFill>
                  <a:srgbClr val="0B1F3A"/>
                </a:solidFill>
                <a:latin typeface="Calibri"/>
              </a:rPr>
              <a:t>Academic Focus: </a:t>
            </a:r>
            <a:r>
              <a:rPr sz="1900" b="0">
                <a:solidFill>
                  <a:srgbClr val="0B1F3A"/>
                </a:solidFill>
                <a:latin typeface="Calibri"/>
              </a:rPr>
              <a:t>Transitioning from basic programming to enterprise-grade, distributed architectures.</a:t>
            </a:r>
          </a:p>
          <a:p>
            <a:pPr marL="0" indent="0">
              <a:lnSpc>
                <a:spcPct val="106000"/>
              </a:lnSpc>
              <a:spcAft>
                <a:spcPts val="900"/>
              </a:spcAft>
            </a:pPr>
            <a:r>
              <a:rPr sz="1900" b="1">
                <a:solidFill>
                  <a:srgbClr val="0052CC"/>
                </a:solidFill>
                <a:latin typeface="Calibri"/>
              </a:rPr>
              <a:t>▸  </a:t>
            </a:r>
            <a:r>
              <a:rPr sz="1900" b="1">
                <a:solidFill>
                  <a:srgbClr val="0B1F3A"/>
                </a:solidFill>
                <a:latin typeface="Calibri"/>
              </a:rPr>
              <a:t>Core Prerequisites (Unit 2–4):</a:t>
            </a:r>
          </a:p>
          <a:p>
            <a:pPr lvl="1" marL="292608" indent="0">
              <a:lnSpc>
                <a:spcPct val="106000"/>
              </a:lnSpc>
              <a:spcAft>
                <a:spcPts val="700"/>
              </a:spcAft>
            </a:pPr>
            <a:r>
              <a:rPr sz="1800" b="1">
                <a:solidFill>
                  <a:srgbClr val="F28C00"/>
                </a:solidFill>
                <a:latin typeface="Calibri"/>
              </a:rPr>
              <a:t>–  </a:t>
            </a:r>
            <a:r>
              <a:rPr sz="1800" b="0">
                <a:solidFill>
                  <a:srgbClr val="4A5568"/>
                </a:solidFill>
                <a:latin typeface="Calibri"/>
              </a:rPr>
              <a:t>Packages and Interfaces.</a:t>
            </a:r>
          </a:p>
          <a:p>
            <a:pPr lvl="1" marL="292608" indent="0">
              <a:lnSpc>
                <a:spcPct val="106000"/>
              </a:lnSpc>
              <a:spcAft>
                <a:spcPts val="700"/>
              </a:spcAft>
            </a:pPr>
            <a:r>
              <a:rPr sz="1800" b="1">
                <a:solidFill>
                  <a:srgbClr val="F28C00"/>
                </a:solidFill>
                <a:latin typeface="Calibri"/>
              </a:rPr>
              <a:t>–  </a:t>
            </a:r>
            <a:r>
              <a:rPr sz="1800" b="0">
                <a:solidFill>
                  <a:srgbClr val="4A5568"/>
                </a:solidFill>
                <a:latin typeface="Calibri"/>
              </a:rPr>
              <a:t>Exception Handling (try, catch, finally).</a:t>
            </a:r>
          </a:p>
          <a:p>
            <a:pPr lvl="1" marL="292608" indent="0">
              <a:lnSpc>
                <a:spcPct val="106000"/>
              </a:lnSpc>
              <a:spcAft>
                <a:spcPts val="700"/>
              </a:spcAft>
            </a:pPr>
            <a:r>
              <a:rPr sz="1800" b="1">
                <a:solidFill>
                  <a:srgbClr val="F28C00"/>
                </a:solidFill>
                <a:latin typeface="Calibri"/>
              </a:rPr>
              <a:t>–  </a:t>
            </a:r>
            <a:r>
              <a:rPr sz="1800" b="0">
                <a:solidFill>
                  <a:srgbClr val="4A5568"/>
                </a:solidFill>
                <a:latin typeface="Calibri"/>
              </a:rPr>
              <a:t>Multithreading — crucial for Servlet performance.</a:t>
            </a:r>
          </a:p>
          <a:p>
            <a:pPr lvl="1" marL="292608" indent="0">
              <a:lnSpc>
                <a:spcPct val="106000"/>
              </a:lnSpc>
              <a:spcAft>
                <a:spcPts val="700"/>
              </a:spcAft>
            </a:pPr>
            <a:r>
              <a:rPr sz="1800" b="1">
                <a:solidFill>
                  <a:srgbClr val="F28C00"/>
                </a:solidFill>
                <a:latin typeface="Calibri"/>
              </a:rPr>
              <a:t>–  </a:t>
            </a:r>
            <a:r>
              <a:rPr sz="1800" b="0">
                <a:solidFill>
                  <a:srgbClr val="4A5568"/>
                </a:solidFill>
                <a:latin typeface="Calibri"/>
              </a:rPr>
              <a:t>Applets &amp; AWT — client-side foundations.</a:t>
            </a:r>
          </a:p>
          <a:p>
            <a:pPr marL="0" indent="0">
              <a:lnSpc>
                <a:spcPct val="106000"/>
              </a:lnSpc>
              <a:spcAft>
                <a:spcPts val="900"/>
              </a:spcAft>
            </a:pPr>
            <a:r>
              <a:rPr sz="1900" b="1">
                <a:solidFill>
                  <a:srgbClr val="0052CC"/>
                </a:solidFill>
                <a:latin typeface="Calibri"/>
              </a:rPr>
              <a:t>▸  </a:t>
            </a:r>
            <a:r>
              <a:rPr sz="1900" b="1">
                <a:solidFill>
                  <a:srgbClr val="0B1F3A"/>
                </a:solidFill>
                <a:latin typeface="Calibri"/>
              </a:rPr>
              <a:t>Unit 5 Core Pillars:</a:t>
            </a:r>
          </a:p>
          <a:p>
            <a:pPr lvl="1" marL="292608" indent="0">
              <a:lnSpc>
                <a:spcPct val="106000"/>
              </a:lnSpc>
              <a:spcAft>
                <a:spcPts val="700"/>
              </a:spcAft>
            </a:pPr>
            <a:r>
              <a:rPr sz="1800" b="1">
                <a:solidFill>
                  <a:srgbClr val="F28C00"/>
                </a:solidFill>
                <a:latin typeface="Calibri"/>
              </a:rPr>
              <a:t>–  </a:t>
            </a:r>
            <a:r>
              <a:rPr sz="1800" b="1">
                <a:solidFill>
                  <a:srgbClr val="0052CC"/>
                </a:solidFill>
                <a:latin typeface="Calibri"/>
              </a:rPr>
              <a:t>Java Database Connectivity (JDBC)</a:t>
            </a:r>
          </a:p>
          <a:p>
            <a:pPr lvl="1" marL="292608" indent="0">
              <a:lnSpc>
                <a:spcPct val="106000"/>
              </a:lnSpc>
              <a:spcAft>
                <a:spcPts val="700"/>
              </a:spcAft>
            </a:pPr>
            <a:r>
              <a:rPr sz="1800" b="1">
                <a:solidFill>
                  <a:srgbClr val="F28C00"/>
                </a:solidFill>
                <a:latin typeface="Calibri"/>
              </a:rPr>
              <a:t>–  </a:t>
            </a:r>
            <a:r>
              <a:rPr sz="1800" b="1">
                <a:solidFill>
                  <a:srgbClr val="F28C00"/>
                </a:solidFill>
                <a:latin typeface="Calibri"/>
              </a:rPr>
              <a:t>Remote Method Invocation (RMI)</a:t>
            </a:r>
          </a:p>
          <a:p>
            <a:pPr lvl="1" marL="292608" indent="0">
              <a:lnSpc>
                <a:spcPct val="106000"/>
              </a:lnSpc>
              <a:spcAft>
                <a:spcPts val="700"/>
              </a:spcAft>
            </a:pPr>
            <a:r>
              <a:rPr sz="1800" b="1">
                <a:solidFill>
                  <a:srgbClr val="F28C00"/>
                </a:solidFill>
                <a:latin typeface="Calibri"/>
              </a:rPr>
              <a:t>–  </a:t>
            </a:r>
            <a:r>
              <a:rPr sz="1800" b="1">
                <a:solidFill>
                  <a:srgbClr val="0B7A3B"/>
                </a:solidFill>
                <a:latin typeface="Calibri"/>
              </a:rPr>
              <a:t>Java Servlets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Java Database Connectivity (JDBC)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400800" cy="4023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8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1">
                <a:solidFill>
                  <a:srgbClr val="0B1F3A"/>
                </a:solidFill>
                <a:latin typeface="Calibri"/>
              </a:rPr>
              <a:t>Definition: </a:t>
            </a:r>
            <a:r>
              <a:rPr sz="1650" b="0">
                <a:solidFill>
                  <a:srgbClr val="0B1F3A"/>
                </a:solidFill>
                <a:latin typeface="Calibri"/>
              </a:rPr>
              <a:t>An industry-standard API (java.sql) letting Java apps interact seamlessly with relational databases.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1">
                <a:solidFill>
                  <a:srgbClr val="0B1F3A"/>
                </a:solidFill>
                <a:latin typeface="Calibri"/>
              </a:rPr>
              <a:t>Key Benefit: </a:t>
            </a:r>
            <a:r>
              <a:rPr sz="1650" b="0">
                <a:solidFill>
                  <a:srgbClr val="0B1F3A"/>
                </a:solidFill>
                <a:latin typeface="Calibri"/>
              </a:rPr>
              <a:t>Database-agnostic code — a driver translates Java API calls into the database's proprietary language.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1">
                <a:solidFill>
                  <a:srgbClr val="0B1F3A"/>
                </a:solidFill>
                <a:latin typeface="Calibri"/>
              </a:rPr>
              <a:t>Architectural Models: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50" b="1">
                <a:solidFill>
                  <a:srgbClr val="F28C00"/>
                </a:solidFill>
                <a:latin typeface="Calibri"/>
              </a:rPr>
              <a:t>–  </a:t>
            </a:r>
            <a:r>
              <a:rPr sz="1550" b="1">
                <a:solidFill>
                  <a:srgbClr val="4A5568"/>
                </a:solidFill>
                <a:latin typeface="Calibri"/>
              </a:rPr>
              <a:t>2-Tier: </a:t>
            </a:r>
            <a:r>
              <a:rPr sz="1550" b="0">
                <a:solidFill>
                  <a:srgbClr val="4A5568"/>
                </a:solidFill>
                <a:latin typeface="Calibri"/>
              </a:rPr>
              <a:t>Client talks directly to the database. Fast, but less secure and harder to scale.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50" b="1">
                <a:solidFill>
                  <a:srgbClr val="F28C00"/>
                </a:solidFill>
                <a:latin typeface="Calibri"/>
              </a:rPr>
              <a:t>–  </a:t>
            </a:r>
            <a:r>
              <a:rPr sz="1550" b="1">
                <a:solidFill>
                  <a:srgbClr val="4A5568"/>
                </a:solidFill>
                <a:latin typeface="Calibri"/>
              </a:rPr>
              <a:t>3-Tier: </a:t>
            </a:r>
            <a:r>
              <a:rPr sz="1550" b="0">
                <a:solidFill>
                  <a:srgbClr val="4A5568"/>
                </a:solidFill>
                <a:latin typeface="Calibri"/>
              </a:rPr>
              <a:t>Client talks to a middle-tier app server, which talks to the database. Secure &amp; scalable — the web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280160"/>
            <a:ext cx="42062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Calibri"/>
              </a:rPr>
              <a:t>JDBC CALL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27632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Java Application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89720" y="2231136"/>
            <a:ext cx="548640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0" y="2432304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JDBC API (java.sql)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9720" y="3035808"/>
            <a:ext cx="548640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3236976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DriverManager / Driver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89720" y="3840480"/>
            <a:ext cx="548640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4041648"/>
            <a:ext cx="3200400" cy="566928"/>
          </a:xfrm>
          <a:prstGeom prst="roundRect">
            <a:avLst>
              <a:gd name="adj" fmla="val 12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Four Types of JDBC Drivers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28016" cy="21488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02A2A"/>
                </a:solidFill>
                <a:latin typeface="Calibri"/>
              </a:rPr>
              <a:t>Type 1  </a:t>
            </a:r>
            <a:r>
              <a:rPr sz="1700" b="1">
                <a:solidFill>
                  <a:srgbClr val="0B1F3A"/>
                </a:solidFill>
                <a:latin typeface="Calibri"/>
              </a:rPr>
              <a:t>JDBC-ODBC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8463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4A5568"/>
                </a:solidFill>
                <a:latin typeface="Calibri"/>
              </a:rPr>
              <a:t>Translates JDBC to ODBC. Obsolete — severe performance overhead and manual client installs.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716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128016" cy="214884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361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F28C00"/>
                </a:solidFill>
                <a:latin typeface="Calibri"/>
              </a:rPr>
              <a:t>Type 2  </a:t>
            </a:r>
            <a:r>
              <a:rPr sz="1700" b="1">
                <a:solidFill>
                  <a:srgbClr val="0B1F3A"/>
                </a:solidFill>
                <a:latin typeface="Calibri"/>
              </a:rPr>
              <a:t>Native-API (Partial Java)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8463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4A5568"/>
                </a:solidFill>
                <a:latin typeface="Calibri"/>
              </a:rPr>
              <a:t>Translates JDBC into native C/C++ DB libraries. Faster than Type 1, but needs platform-specific client installs.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28016" cy="214884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507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052CC"/>
                </a:solidFill>
                <a:latin typeface="Calibri"/>
              </a:rPr>
              <a:t>Type 3  </a:t>
            </a:r>
            <a:r>
              <a:rPr sz="1700" b="1">
                <a:solidFill>
                  <a:srgbClr val="0B1F3A"/>
                </a:solidFill>
                <a:latin typeface="Calibri"/>
              </a:rPr>
              <a:t>Network Protocol (Middleware)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63440"/>
            <a:ext cx="48463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4A5568"/>
                </a:solidFill>
                <a:latin typeface="Calibri"/>
              </a:rPr>
              <a:t>Pure Java driver talking to a middleware server. Highly portable; great for many different databases.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862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886200"/>
            <a:ext cx="128016" cy="214884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0507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7A3B"/>
                </a:solidFill>
                <a:latin typeface="Calibri"/>
              </a:rPr>
              <a:t>Type 4  </a:t>
            </a:r>
            <a:r>
              <a:rPr sz="1700" b="1">
                <a:solidFill>
                  <a:srgbClr val="0B1F3A"/>
                </a:solidFill>
                <a:latin typeface="Calibri"/>
              </a:rPr>
              <a:t>Pure Java — Thin 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663440"/>
            <a:ext cx="48463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50" b="0">
                <a:solidFill>
                  <a:srgbClr val="4A5568"/>
                </a:solidFill>
                <a:latin typeface="Calibri"/>
              </a:rPr>
              <a:t>The modern standard. 100% Java, direct over sockets. Highest performance, zero client install.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5 Steps of JDBC Execution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2011680"/>
            <a:ext cx="38100" cy="310896"/>
          </a:xfrm>
          <a:prstGeom prst="rect">
            <a:avLst/>
          </a:prstGeom>
          <a:solidFill>
            <a:srgbClr val="C4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38988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Register the Driver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556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Load the driver into JVM memory dynamically using Class.forName().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22576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" y="2962656"/>
            <a:ext cx="38100" cy="310896"/>
          </a:xfrm>
          <a:prstGeom prst="rect">
            <a:avLst/>
          </a:prstGeom>
          <a:solidFill>
            <a:srgbClr val="C4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34086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Establish the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0662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Open a channel via DriverManager.getConnection() with a JDBC URL and credentials.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73552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" y="3913632"/>
            <a:ext cx="38100" cy="310896"/>
          </a:xfrm>
          <a:prstGeom prst="rect">
            <a:avLst/>
          </a:prstGeom>
          <a:solidFill>
            <a:srgbClr val="C4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918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Create the Statement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5760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Prepare a vehicle for the SQL query using con.createStatement().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224528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" y="4864608"/>
            <a:ext cx="38100" cy="310896"/>
          </a:xfrm>
          <a:prstGeom prst="rect">
            <a:avLst/>
          </a:prstGeom>
          <a:solidFill>
            <a:srgbClr val="C4D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242816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Execute the SQL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608576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Dispatch with executeQuery() (SELECT) or executeUpdate() (INSERT/UPDATE/DELETE).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175504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1937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Close the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55955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Prevent memory leaks by explicitly invoking .close() on connections and statements.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Basic JDBC Program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201400" cy="502920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46304" cy="50292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9248"/>
            <a:ext cx="10835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B9C2D4"/>
                </a:solidFill>
                <a:latin typeface="Consolas"/>
              </a:rPr>
              <a:t>BasicJDBCSelect.java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28648"/>
            <a:ext cx="10835640" cy="462280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6CB6FF"/>
                </a:solidFill>
                <a:latin typeface="Consolas"/>
              </a:rPr>
              <a:t>import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java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sql</a:t>
            </a:r>
            <a:r>
              <a:rPr sz="1250">
                <a:solidFill>
                  <a:srgbClr val="E6E9EF"/>
                </a:solidFill>
                <a:latin typeface="Consolas"/>
              </a:rPr>
              <a:t>.*;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6CB6FF"/>
                </a:solidFill>
                <a:latin typeface="Consolas"/>
              </a:rPr>
              <a:t>public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class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BasicJDBCSelect</a:t>
            </a:r>
            <a:r>
              <a:rPr sz="125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</a:t>
            </a:r>
            <a:r>
              <a:rPr sz="1250">
                <a:solidFill>
                  <a:srgbClr val="6CB6FF"/>
                </a:solidFill>
                <a:latin typeface="Consolas"/>
              </a:rPr>
              <a:t>public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static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void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main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6CB6FF"/>
                </a:solidFill>
                <a:latin typeface="Consolas"/>
              </a:rPr>
              <a:t>String</a:t>
            </a:r>
            <a:r>
              <a:rPr sz="1250">
                <a:solidFill>
                  <a:srgbClr val="E6E9EF"/>
                </a:solidFill>
                <a:latin typeface="Consolas"/>
              </a:rPr>
              <a:t>[] </a:t>
            </a:r>
            <a:r>
              <a:rPr sz="1250">
                <a:solidFill>
                  <a:srgbClr val="E6E9EF"/>
                </a:solidFill>
                <a:latin typeface="Consolas"/>
              </a:rPr>
              <a:t>args</a:t>
            </a:r>
            <a:r>
              <a:rPr sz="1250">
                <a:solidFill>
                  <a:srgbClr val="E6E9EF"/>
                </a:solidFill>
                <a:latin typeface="Consolas"/>
              </a:rPr>
              <a:t>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6CB6FF"/>
                </a:solidFill>
                <a:latin typeface="Consolas"/>
              </a:rPr>
              <a:t>try</a:t>
            </a:r>
            <a:r>
              <a:rPr sz="125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      // Step 1: Register the Driver Class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</a:t>
            </a:r>
            <a:r>
              <a:rPr sz="1250">
                <a:solidFill>
                  <a:srgbClr val="E6E9EF"/>
                </a:solidFill>
                <a:latin typeface="Consolas"/>
              </a:rPr>
              <a:t>Class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forName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7EE787"/>
                </a:solidFill>
                <a:latin typeface="Consolas"/>
              </a:rPr>
              <a:t>"com.mysql.cj.jdbc.Driver"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      // Step 2: Establish the Connection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</a:t>
            </a:r>
            <a:r>
              <a:rPr sz="1250">
                <a:solidFill>
                  <a:srgbClr val="E6E9EF"/>
                </a:solidFill>
                <a:latin typeface="Consolas"/>
              </a:rPr>
              <a:t>Connection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con</a:t>
            </a:r>
            <a:r>
              <a:rPr sz="1250">
                <a:solidFill>
                  <a:srgbClr val="E6E9EF"/>
                </a:solidFill>
                <a:latin typeface="Consolas"/>
              </a:rPr>
              <a:t> = </a:t>
            </a:r>
            <a:r>
              <a:rPr sz="1250">
                <a:solidFill>
                  <a:srgbClr val="E6E9EF"/>
                </a:solidFill>
                <a:latin typeface="Consolas"/>
              </a:rPr>
              <a:t>DriverManager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getConnection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    </a:t>
            </a:r>
            <a:r>
              <a:rPr sz="1250">
                <a:solidFill>
                  <a:srgbClr val="7EE787"/>
                </a:solidFill>
                <a:latin typeface="Consolas"/>
              </a:rPr>
              <a:t>"jdbc:mysql://localhost:3306/university_db"</a:t>
            </a:r>
            <a:r>
              <a:rPr sz="1250">
                <a:solidFill>
                  <a:srgbClr val="E6E9EF"/>
                </a:solidFill>
                <a:latin typeface="Consolas"/>
              </a:rPr>
              <a:t>, </a:t>
            </a:r>
            <a:r>
              <a:rPr sz="1250">
                <a:solidFill>
                  <a:srgbClr val="7EE787"/>
                </a:solidFill>
                <a:latin typeface="Consolas"/>
              </a:rPr>
              <a:t>"root"</a:t>
            </a:r>
            <a:r>
              <a:rPr sz="1250">
                <a:solidFill>
                  <a:srgbClr val="E6E9EF"/>
                </a:solidFill>
                <a:latin typeface="Consolas"/>
              </a:rPr>
              <a:t>, </a:t>
            </a:r>
            <a:r>
              <a:rPr sz="1250">
                <a:solidFill>
                  <a:srgbClr val="7EE787"/>
                </a:solidFill>
                <a:latin typeface="Consolas"/>
              </a:rPr>
              <a:t>"password"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      // Step 3: Create the Statement Object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</a:t>
            </a:r>
            <a:r>
              <a:rPr sz="1250">
                <a:solidFill>
                  <a:srgbClr val="E6E9EF"/>
                </a:solidFill>
                <a:latin typeface="Consolas"/>
              </a:rPr>
              <a:t>Statement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stmt</a:t>
            </a:r>
            <a:r>
              <a:rPr sz="1250">
                <a:solidFill>
                  <a:srgbClr val="E6E9EF"/>
                </a:solidFill>
                <a:latin typeface="Consolas"/>
              </a:rPr>
              <a:t> = </a:t>
            </a:r>
            <a:r>
              <a:rPr sz="1250">
                <a:solidFill>
                  <a:srgbClr val="E6E9EF"/>
                </a:solidFill>
                <a:latin typeface="Consolas"/>
              </a:rPr>
              <a:t>con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createStatement</a:t>
            </a:r>
            <a:r>
              <a:rPr sz="1250">
                <a:solidFill>
                  <a:srgbClr val="E6E9EF"/>
                </a:solidFill>
                <a:latin typeface="Consolas"/>
              </a:rPr>
              <a:t>();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      // Step 4: Execute the SQL Query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</a:t>
            </a:r>
            <a:r>
              <a:rPr sz="1250">
                <a:solidFill>
                  <a:srgbClr val="E6E9EF"/>
                </a:solidFill>
                <a:latin typeface="Consolas"/>
              </a:rPr>
              <a:t>ResultSet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rs</a:t>
            </a:r>
            <a:r>
              <a:rPr sz="1250">
                <a:solidFill>
                  <a:srgbClr val="E6E9EF"/>
                </a:solidFill>
                <a:latin typeface="Consolas"/>
              </a:rPr>
              <a:t> = </a:t>
            </a:r>
            <a:r>
              <a:rPr sz="1250">
                <a:solidFill>
                  <a:srgbClr val="E6E9EF"/>
                </a:solidFill>
                <a:latin typeface="Consolas"/>
              </a:rPr>
              <a:t>stmt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executeQuery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7EE787"/>
                </a:solidFill>
                <a:latin typeface="Consolas"/>
              </a:rPr>
              <a:t>"SELECT * FROM students"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      // Process the Result (iterate the cursor row by row)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</a:t>
            </a:r>
            <a:r>
              <a:rPr sz="1250">
                <a:solidFill>
                  <a:srgbClr val="6CB6FF"/>
                </a:solidFill>
                <a:latin typeface="Consolas"/>
              </a:rPr>
              <a:t>while</a:t>
            </a:r>
            <a:r>
              <a:rPr sz="1250">
                <a:solidFill>
                  <a:srgbClr val="E6E9EF"/>
                </a:solidFill>
                <a:latin typeface="Consolas"/>
              </a:rPr>
              <a:t> (</a:t>
            </a:r>
            <a:r>
              <a:rPr sz="1250">
                <a:solidFill>
                  <a:srgbClr val="E6E9EF"/>
                </a:solidFill>
                <a:latin typeface="Consolas"/>
              </a:rPr>
              <a:t>rs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next</a:t>
            </a:r>
            <a:r>
              <a:rPr sz="1250">
                <a:solidFill>
                  <a:srgbClr val="E6E9EF"/>
                </a:solidFill>
                <a:latin typeface="Consolas"/>
              </a:rPr>
              <a:t>())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  </a:t>
            </a:r>
            <a:r>
              <a:rPr sz="1250">
                <a:solidFill>
                  <a:srgbClr val="E6E9EF"/>
                </a:solidFill>
                <a:latin typeface="Consolas"/>
              </a:rPr>
              <a:t>System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out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println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7EE787"/>
                </a:solidFill>
                <a:latin typeface="Consolas"/>
              </a:rPr>
              <a:t>"ID: "</a:t>
            </a:r>
            <a:r>
              <a:rPr sz="1250">
                <a:solidFill>
                  <a:srgbClr val="E6E9EF"/>
                </a:solidFill>
                <a:latin typeface="Consolas"/>
              </a:rPr>
              <a:t> + </a:t>
            </a:r>
            <a:r>
              <a:rPr sz="1250">
                <a:solidFill>
                  <a:srgbClr val="E6E9EF"/>
                </a:solidFill>
                <a:latin typeface="Consolas"/>
              </a:rPr>
              <a:t>rs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getInt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E6E9EF"/>
                </a:solidFill>
                <a:latin typeface="Consolas"/>
              </a:rPr>
              <a:t>1</a:t>
            </a:r>
            <a:r>
              <a:rPr sz="1250">
                <a:solidFill>
                  <a:srgbClr val="E6E9EF"/>
                </a:solidFill>
                <a:latin typeface="Consolas"/>
              </a:rPr>
              <a:t>) + </a:t>
            </a:r>
            <a:r>
              <a:rPr sz="1250">
                <a:solidFill>
                  <a:srgbClr val="7EE787"/>
                </a:solidFill>
                <a:latin typeface="Consolas"/>
              </a:rPr>
              <a:t>" Name: "</a:t>
            </a:r>
            <a:r>
              <a:rPr sz="1250">
                <a:solidFill>
                  <a:srgbClr val="E6E9EF"/>
                </a:solidFill>
                <a:latin typeface="Consolas"/>
              </a:rPr>
              <a:t> + </a:t>
            </a:r>
            <a:r>
              <a:rPr sz="1250">
                <a:solidFill>
                  <a:srgbClr val="E6E9EF"/>
                </a:solidFill>
                <a:latin typeface="Consolas"/>
              </a:rPr>
              <a:t>rs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getString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E6E9EF"/>
                </a:solidFill>
                <a:latin typeface="Consolas"/>
              </a:rPr>
              <a:t>2</a:t>
            </a:r>
            <a:r>
              <a:rPr sz="1250">
                <a:solidFill>
                  <a:srgbClr val="E6E9EF"/>
                </a:solidFill>
                <a:latin typeface="Consolas"/>
              </a:rPr>
              <a:t>));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      // Step 5: Close the Resources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</a:t>
            </a:r>
            <a:r>
              <a:rPr sz="1250">
                <a:solidFill>
                  <a:srgbClr val="E6E9EF"/>
                </a:solidFill>
                <a:latin typeface="Consolas"/>
              </a:rPr>
              <a:t>con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close</a:t>
            </a:r>
            <a:r>
              <a:rPr sz="1250">
                <a:solidFill>
                  <a:srgbClr val="E6E9EF"/>
                </a:solidFill>
                <a:latin typeface="Consolas"/>
              </a:rPr>
              <a:t>();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} </a:t>
            </a:r>
            <a:r>
              <a:rPr sz="1250">
                <a:solidFill>
                  <a:srgbClr val="6CB6FF"/>
                </a:solidFill>
                <a:latin typeface="Consolas"/>
              </a:rPr>
              <a:t>catch</a:t>
            </a:r>
            <a:r>
              <a:rPr sz="1250">
                <a:solidFill>
                  <a:srgbClr val="E6E9EF"/>
                </a:solidFill>
                <a:latin typeface="Consolas"/>
              </a:rPr>
              <a:t> (</a:t>
            </a:r>
            <a:r>
              <a:rPr sz="1250">
                <a:solidFill>
                  <a:srgbClr val="E6E9EF"/>
                </a:solidFill>
                <a:latin typeface="Consolas"/>
              </a:rPr>
              <a:t>Exception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e</a:t>
            </a:r>
            <a:r>
              <a:rPr sz="1250">
                <a:solidFill>
                  <a:srgbClr val="E6E9EF"/>
                </a:solidFill>
                <a:latin typeface="Consolas"/>
              </a:rPr>
              <a:t>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</a:t>
            </a:r>
            <a:r>
              <a:rPr sz="1250">
                <a:solidFill>
                  <a:srgbClr val="E6E9EF"/>
                </a:solidFill>
                <a:latin typeface="Consolas"/>
              </a:rPr>
              <a:t>System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out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println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E6E9EF"/>
                </a:solidFill>
                <a:latin typeface="Consolas"/>
              </a:rPr>
              <a:t>e</a:t>
            </a:r>
            <a:r>
              <a:rPr sz="1250">
                <a:solidFill>
                  <a:srgbClr val="E6E9EF"/>
                </a:solidFill>
                <a:latin typeface="Consolas"/>
              </a:rPr>
              <a:t>);   // </a:t>
            </a:r>
            <a:r>
              <a:rPr sz="1250">
                <a:solidFill>
                  <a:srgbClr val="E6E9EF"/>
                </a:solidFill>
                <a:latin typeface="Consolas"/>
              </a:rPr>
              <a:t>ClassNotFoundException</a:t>
            </a:r>
            <a:r>
              <a:rPr sz="1250">
                <a:solidFill>
                  <a:srgbClr val="E6E9EF"/>
                </a:solidFill>
                <a:latin typeface="Consolas"/>
              </a:rPr>
              <a:t> / </a:t>
            </a:r>
            <a:r>
              <a:rPr sz="1250">
                <a:solidFill>
                  <a:srgbClr val="E6E9EF"/>
                </a:solidFill>
                <a:latin typeface="Consolas"/>
              </a:rPr>
              <a:t>SQLException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Statement vs. PreparedStatement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640080"/>
          </a:xfrm>
          <a:prstGeom prst="round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6118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3611880" cy="365760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246120" cy="33832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10000"/>
              </a:lnSpc>
              <a:spcAft>
                <a:spcPts val="900"/>
              </a:spcAft>
            </a:pPr>
            <a:r>
              <a:rPr sz="1350" b="1">
                <a:solidFill>
                  <a:srgbClr val="0052CC"/>
                </a:solidFill>
                <a:latin typeface="Calibri"/>
              </a:rPr>
              <a:t>▸  </a:t>
            </a:r>
            <a:r>
              <a:rPr sz="1350" b="0">
                <a:solidFill>
                  <a:srgbClr val="0B1F3A"/>
                </a:solidFill>
                <a:latin typeface="Calibri"/>
              </a:rPr>
              <a:t>Executes static SQL, compiled dynamically at runtime.</a:t>
            </a:r>
          </a:p>
          <a:p>
            <a:pPr marL="0" indent="0">
              <a:lnSpc>
                <a:spcPct val="110000"/>
              </a:lnSpc>
              <a:spcAft>
                <a:spcPts val="900"/>
              </a:spcAft>
            </a:pPr>
            <a:r>
              <a:rPr sz="1350" b="1">
                <a:solidFill>
                  <a:srgbClr val="0052CC"/>
                </a:solidFill>
                <a:latin typeface="Calibri"/>
              </a:rPr>
              <a:t>▸  </a:t>
            </a:r>
            <a:r>
              <a:rPr sz="1350" b="0">
                <a:solidFill>
                  <a:srgbClr val="0B1F3A"/>
                </a:solidFill>
                <a:latin typeface="Calibri"/>
              </a:rPr>
              <a:t>Extremely vulnerable to SQL Injection attacks.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611880" cy="640080"/>
          </a:xfrm>
          <a:prstGeom prst="round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81328"/>
            <a:ext cx="36118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PreparedStatement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611880" cy="365760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46120" cy="33832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10000"/>
              </a:lnSpc>
              <a:spcAft>
                <a:spcPts val="900"/>
              </a:spcAft>
            </a:pPr>
            <a:r>
              <a:rPr sz="1350" b="1">
                <a:solidFill>
                  <a:srgbClr val="0052CC"/>
                </a:solidFill>
                <a:latin typeface="Calibri"/>
              </a:rPr>
              <a:t>▸  </a:t>
            </a:r>
            <a:r>
              <a:rPr sz="1350" b="0">
                <a:solidFill>
                  <a:srgbClr val="0B1F3A"/>
                </a:solidFill>
                <a:latin typeface="Calibri"/>
              </a:rPr>
              <a:t>Precompiled SQL using ? placeholders for variables.</a:t>
            </a:r>
          </a:p>
          <a:p>
            <a:pPr marL="0" indent="0">
              <a:lnSpc>
                <a:spcPct val="110000"/>
              </a:lnSpc>
              <a:spcAft>
                <a:spcPts val="900"/>
              </a:spcAft>
            </a:pPr>
            <a:r>
              <a:rPr sz="1350" b="1">
                <a:solidFill>
                  <a:srgbClr val="0052CC"/>
                </a:solidFill>
                <a:latin typeface="Calibri"/>
              </a:rPr>
              <a:t>▸  </a:t>
            </a:r>
            <a:r>
              <a:rPr sz="1350" b="0">
                <a:solidFill>
                  <a:srgbClr val="0B1F3A"/>
                </a:solidFill>
                <a:latin typeface="Calibri"/>
              </a:rPr>
              <a:t>Adv 1: Neutralizes SQL injection — input treated as data, not code.</a:t>
            </a:r>
          </a:p>
          <a:p>
            <a:pPr marL="0" indent="0">
              <a:lnSpc>
                <a:spcPct val="110000"/>
              </a:lnSpc>
              <a:spcAft>
                <a:spcPts val="900"/>
              </a:spcAft>
            </a:pPr>
            <a:r>
              <a:rPr sz="1350" b="1">
                <a:solidFill>
                  <a:srgbClr val="0052CC"/>
                </a:solidFill>
                <a:latin typeface="Calibri"/>
              </a:rPr>
              <a:t>▸  </a:t>
            </a:r>
            <a:r>
              <a:rPr sz="1350" b="0">
                <a:solidFill>
                  <a:srgbClr val="0B1F3A"/>
                </a:solidFill>
                <a:latin typeface="Calibri"/>
              </a:rPr>
              <a:t>Adv 2: Massive performance gains when the same query runs in a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611880" cy="640080"/>
          </a:xfrm>
          <a:prstGeom prst="round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481328"/>
            <a:ext cx="36118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CallableStatement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94560"/>
            <a:ext cx="3611880" cy="365760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3246120" cy="33832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10000"/>
              </a:lnSpc>
              <a:spcAft>
                <a:spcPts val="900"/>
              </a:spcAft>
            </a:pPr>
            <a:r>
              <a:rPr sz="1350" b="1">
                <a:solidFill>
                  <a:srgbClr val="0052CC"/>
                </a:solidFill>
                <a:latin typeface="Calibri"/>
              </a:rPr>
              <a:t>▸  </a:t>
            </a:r>
            <a:r>
              <a:rPr sz="1350" b="0">
                <a:solidFill>
                  <a:srgbClr val="0B1F3A"/>
                </a:solidFill>
                <a:latin typeface="Calibri"/>
              </a:rPr>
              <a:t>Inherits from PreparedStatement.</a:t>
            </a:r>
          </a:p>
          <a:p>
            <a:pPr marL="0" indent="0">
              <a:lnSpc>
                <a:spcPct val="110000"/>
              </a:lnSpc>
              <a:spcAft>
                <a:spcPts val="900"/>
              </a:spcAft>
            </a:pPr>
            <a:r>
              <a:rPr sz="1350" b="1">
                <a:solidFill>
                  <a:srgbClr val="0052CC"/>
                </a:solidFill>
                <a:latin typeface="Calibri"/>
              </a:rPr>
              <a:t>▸  </a:t>
            </a:r>
            <a:r>
              <a:rPr sz="1350" b="0">
                <a:solidFill>
                  <a:srgbClr val="0B1F3A"/>
                </a:solidFill>
                <a:latin typeface="Calibri"/>
              </a:rPr>
              <a:t>Exclusively used to execute complex stored procedures on the DB server.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Remote Method Invocation (RMI)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173736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</a:pPr>
            <a:r>
              <a:rPr sz="1550" b="1">
                <a:solidFill>
                  <a:srgbClr val="0052CC"/>
                </a:solidFill>
                <a:latin typeface="Calibri"/>
              </a:rPr>
              <a:t>▸  </a:t>
            </a:r>
            <a:r>
              <a:rPr sz="1550" b="1">
                <a:solidFill>
                  <a:srgbClr val="0B1F3A"/>
                </a:solidFill>
                <a:latin typeface="Calibri"/>
              </a:rPr>
              <a:t>Purpose: </a:t>
            </a:r>
            <a:r>
              <a:rPr sz="1550" b="0">
                <a:solidFill>
                  <a:srgbClr val="0B1F3A"/>
                </a:solidFill>
                <a:latin typeface="Calibri"/>
              </a:rPr>
              <a:t>Lets a Java object in one JVM invoke methods on an object in a separate, remote JVM across a network.</a:t>
            </a:r>
          </a:p>
          <a:p>
            <a:pPr marL="0" indent="0">
              <a:lnSpc>
                <a:spcPct val="106000"/>
              </a:lnSpc>
              <a:spcAft>
                <a:spcPts val="700"/>
              </a:spcAft>
            </a:pPr>
            <a:r>
              <a:rPr sz="1550" b="1">
                <a:solidFill>
                  <a:srgbClr val="0052CC"/>
                </a:solidFill>
                <a:latin typeface="Calibri"/>
              </a:rPr>
              <a:t>▸  </a:t>
            </a:r>
            <a:r>
              <a:rPr sz="1550" b="1">
                <a:solidFill>
                  <a:srgbClr val="0B1F3A"/>
                </a:solidFill>
                <a:latin typeface="Calibri"/>
              </a:rPr>
              <a:t>The Proxy Layer (crucial for exams):</a:t>
            </a:r>
          </a:p>
          <a:p>
            <a:pPr lvl="1" marL="292608" indent="0">
              <a:lnSpc>
                <a:spcPct val="106000"/>
              </a:lnSpc>
              <a:spcAft>
                <a:spcPts val="500"/>
              </a:spcAft>
            </a:pPr>
            <a:r>
              <a:rPr sz="1450" b="1">
                <a:solidFill>
                  <a:srgbClr val="F28C00"/>
                </a:solidFill>
                <a:latin typeface="Calibri"/>
              </a:rPr>
              <a:t>–  </a:t>
            </a:r>
            <a:r>
              <a:rPr sz="1450" b="1">
                <a:solidFill>
                  <a:srgbClr val="4A5568"/>
                </a:solidFill>
                <a:latin typeface="Calibri"/>
              </a:rPr>
              <a:t>Stub (client-side): </a:t>
            </a:r>
            <a:r>
              <a:rPr sz="1450" b="0">
                <a:solidFill>
                  <a:srgbClr val="4A5568"/>
                </a:solidFill>
                <a:latin typeface="Calibri"/>
              </a:rPr>
              <a:t>local proxy that performs Marshaling — packaging method name &amp; parameters into a network byte stream.</a:t>
            </a:r>
          </a:p>
          <a:p>
            <a:pPr lvl="1" marL="292608" indent="0">
              <a:lnSpc>
                <a:spcPct val="106000"/>
              </a:lnSpc>
              <a:spcAft>
                <a:spcPts val="500"/>
              </a:spcAft>
            </a:pPr>
            <a:r>
              <a:rPr sz="1450" b="1">
                <a:solidFill>
                  <a:srgbClr val="F28C00"/>
                </a:solidFill>
                <a:latin typeface="Calibri"/>
              </a:rPr>
              <a:t>–  </a:t>
            </a:r>
            <a:r>
              <a:rPr sz="1450" b="1">
                <a:solidFill>
                  <a:srgbClr val="4A5568"/>
                </a:solidFill>
                <a:latin typeface="Calibri"/>
              </a:rPr>
              <a:t>Skeleton (server-side): </a:t>
            </a:r>
            <a:r>
              <a:rPr sz="1450" b="0">
                <a:solidFill>
                  <a:srgbClr val="4A5568"/>
                </a:solidFill>
                <a:latin typeface="Calibri"/>
              </a:rPr>
              <a:t>receives the stream, performs Unmarshaling, and executes the real method on the server.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6052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(Application)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16052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Stub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Marshaling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416052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Skeleton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Unmarshaling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416052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Server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(Remote object)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71800" y="4507992"/>
            <a:ext cx="292608" cy="182880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778240" y="4507992"/>
            <a:ext cx="292608" cy="182880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4325112"/>
            <a:ext cx="841248" cy="53035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361688"/>
            <a:ext cx="841248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TCP/IP
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Calibri"/>
              </a:rPr>
              <a:t>Marshaling → byte stream over the wire → Unmarshaling → real method executes; return value flows back the same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RMI Application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Serialization: </a:t>
            </a:r>
            <a:r>
              <a:rPr sz="1700" b="0">
                <a:solidFill>
                  <a:srgbClr val="4A5568"/>
                </a:solidFill>
                <a:latin typeface="Calibri"/>
              </a:rPr>
              <a:t>Any object passed over the network in RMI must implement java.io.Serializable.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920240"/>
            <a:ext cx="603504" cy="603504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" y="2523744"/>
            <a:ext cx="38100" cy="274320"/>
          </a:xfrm>
          <a:prstGeom prst="rect">
            <a:avLst/>
          </a:prstGeom>
          <a:solidFill>
            <a:srgbClr val="F1D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>
                <a:solidFill>
                  <a:srgbClr val="0B1F3A"/>
                </a:solidFill>
                <a:latin typeface="Calibri"/>
              </a:rPr>
              <a:t>Define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Must extend Remote and throw RemoteException.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98064"/>
            <a:ext cx="603504" cy="603504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3401568"/>
            <a:ext cx="38100" cy="274320"/>
          </a:xfrm>
          <a:prstGeom prst="rect">
            <a:avLst/>
          </a:prstGeom>
          <a:solidFill>
            <a:srgbClr val="F1D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79806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>
                <a:solidFill>
                  <a:srgbClr val="0B1F3A"/>
                </a:solidFill>
                <a:latin typeface="Calibri"/>
              </a:rPr>
              <a:t>Implement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6382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Typically extends UnicastRemoteObject.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75888"/>
            <a:ext cx="603504" cy="603504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" y="4279392"/>
            <a:ext cx="38100" cy="274320"/>
          </a:xfrm>
          <a:prstGeom prst="rect">
            <a:avLst/>
          </a:prstGeom>
          <a:solidFill>
            <a:srgbClr val="F1D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67588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>
                <a:solidFill>
                  <a:srgbClr val="0B1F3A"/>
                </a:solidFill>
                <a:latin typeface="Calibri"/>
              </a:rPr>
              <a:t>Start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416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Start the localized Java DNS via rmiregistry.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553712"/>
            <a:ext cx="603504" cy="603504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" y="5157216"/>
            <a:ext cx="38100" cy="274320"/>
          </a:xfrm>
          <a:prstGeom prst="rect">
            <a:avLst/>
          </a:prstGeom>
          <a:solidFill>
            <a:srgbClr val="F1D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55371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>
                <a:solidFill>
                  <a:srgbClr val="0B1F3A"/>
                </a:solidFill>
                <a:latin typeface="Calibri"/>
              </a:rPr>
              <a:t>Bind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1947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Instantiate the remote object and bind it to a string identifier in the registry.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431536"/>
            <a:ext cx="603504" cy="603504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31536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50" b="1">
                <a:solidFill>
                  <a:srgbClr val="0B1F3A"/>
                </a:solidFill>
                <a:latin typeface="Calibri"/>
              </a:rPr>
              <a:t>Client Lookup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97296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Client queries the registry identifier, retrieves the Stub, and invokes methods.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Simple Client/Server with RMI — 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1 · Define the Remote Interface — Hello.java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532120" cy="246888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146304" cy="246888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4960"/>
            <a:ext cx="5166360" cy="231648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6CB6FF"/>
                </a:solidFill>
                <a:latin typeface="Consolas"/>
              </a:rPr>
              <a:t>import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java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rmi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Remote</a:t>
            </a:r>
            <a:r>
              <a:rPr sz="125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6CB6FF"/>
                </a:solidFill>
                <a:latin typeface="Consolas"/>
              </a:rPr>
              <a:t>import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java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rmi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RemoteException</a:t>
            </a:r>
            <a:r>
              <a:rPr sz="125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625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// Remote interface for the distributed application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6CB6FF"/>
                </a:solidFill>
                <a:latin typeface="Consolas"/>
              </a:rPr>
              <a:t>public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interface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Hello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extends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Remote</a:t>
            </a:r>
            <a:r>
              <a:rPr sz="125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6CB6FF"/>
                </a:solidFill>
                <a:latin typeface="Consolas"/>
              </a:rPr>
              <a:t>void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printMsg</a:t>
            </a:r>
            <a:r>
              <a:rPr sz="1250">
                <a:solidFill>
                  <a:srgbClr val="E6E9EF"/>
                </a:solidFill>
                <a:latin typeface="Consolas"/>
              </a:rPr>
              <a:t>() </a:t>
            </a:r>
            <a:r>
              <a:rPr sz="1250">
                <a:solidFill>
                  <a:srgbClr val="6CB6FF"/>
                </a:solidFill>
                <a:latin typeface="Consolas"/>
              </a:rPr>
              <a:t>throws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RemoteException</a:t>
            </a:r>
            <a:r>
              <a:rPr sz="125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2 · Implement the Interface — ImplExample.java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440680" cy="246888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146304" cy="246888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84960"/>
            <a:ext cx="5074920" cy="231648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8A93A6"/>
                </a:solidFill>
                <a:latin typeface="Consolas"/>
              </a:rPr>
              <a:t>// Implementing the remote interface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public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class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ImplExample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implements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Hello</a:t>
            </a:r>
            <a:r>
              <a:rPr sz="120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8A93A6"/>
                </a:solidFill>
                <a:latin typeface="Consolas"/>
              </a:rPr>
              <a:t>    // Body for the remote method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6CB6FF"/>
                </a:solidFill>
                <a:latin typeface="Consolas"/>
              </a:rPr>
              <a:t>public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void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printMsg</a:t>
            </a:r>
            <a:r>
              <a:rPr sz="1200">
                <a:solidFill>
                  <a:srgbClr val="E6E9EF"/>
                </a:solidFill>
                <a:latin typeface="Consolas"/>
              </a:rPr>
              <a:t>()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    </a:t>
            </a:r>
            <a:r>
              <a:rPr sz="1200">
                <a:solidFill>
                  <a:srgbClr val="E6E9EF"/>
                </a:solidFill>
                <a:latin typeface="Consolas"/>
              </a:rPr>
              <a:t>System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out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println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        </a:t>
            </a:r>
            <a:r>
              <a:rPr sz="1200">
                <a:solidFill>
                  <a:srgbClr val="7EE787"/>
                </a:solidFill>
                <a:latin typeface="Consolas"/>
              </a:rPr>
              <a:t>"This is an example RMI program executing on the Server."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28C00"/>
                </a:solidFill>
                <a:latin typeface="Calibri"/>
              </a:rPr>
              <a:t>Key rules: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26280"/>
            <a:ext cx="11155680" cy="18288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▸  </a:t>
            </a:r>
            <a:r>
              <a:rPr sz="1500" b="0">
                <a:solidFill>
                  <a:srgbClr val="0B1F3A"/>
                </a:solidFill>
                <a:latin typeface="Calibri"/>
              </a:rPr>
              <a:t>The interface must extend </a:t>
            </a:r>
            <a:r>
              <a:rPr sz="1500" b="1">
                <a:solidFill>
                  <a:srgbClr val="0052CC"/>
                </a:solidFill>
                <a:latin typeface="Calibri"/>
              </a:rPr>
              <a:t>java.rmi.Remote</a:t>
            </a:r>
            <a:r>
              <a:rPr sz="1500" b="0">
                <a:solidFill>
                  <a:srgbClr val="0B1F3A"/>
                </a:solidFill>
                <a:latin typeface="Calibri"/>
              </a:rPr>
              <a:t> and every method must declare </a:t>
            </a:r>
            <a:r>
              <a:rPr sz="1500" b="1">
                <a:solidFill>
                  <a:srgbClr val="0052CC"/>
                </a:solidFill>
                <a:latin typeface="Calibri"/>
              </a:rPr>
              <a:t>throws RemoteException.</a:t>
            </a:r>
          </a:p>
          <a:p>
            <a:pPr marL="0" indent="0">
              <a:lnSpc>
                <a:spcPct val="106000"/>
              </a:lnSpc>
              <a:spcAft>
                <a:spcPts val="7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▸  </a:t>
            </a:r>
            <a:r>
              <a:rPr sz="1500" b="0">
                <a:solidFill>
                  <a:srgbClr val="0B1F3A"/>
                </a:solidFill>
                <a:latin typeface="Calibri"/>
              </a:rPr>
              <a:t>Any object passed across JVMs must be </a:t>
            </a:r>
            <a:r>
              <a:rPr sz="1500" b="1">
                <a:solidFill>
                  <a:srgbClr val="0052CC"/>
                </a:solidFill>
                <a:latin typeface="Calibri"/>
              </a:rPr>
              <a:t>Serializable</a:t>
            </a:r>
            <a:r>
              <a:rPr sz="1500" b="0">
                <a:solidFill>
                  <a:srgbClr val="0B1F3A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Simple Client/Server with RMI —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3 · Server — bind the object · Server.java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5532120" cy="466344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146304" cy="466344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4960"/>
            <a:ext cx="5166360" cy="451104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6CB6FF"/>
                </a:solidFill>
                <a:latin typeface="Consolas"/>
              </a:rPr>
              <a:t>import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java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rmi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6CB6FF"/>
                </a:solidFill>
                <a:latin typeface="Consolas"/>
              </a:rPr>
              <a:t>import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java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rmi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LocateRegistry</a:t>
            </a:r>
            <a:r>
              <a:rPr sz="118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6CB6FF"/>
                </a:solidFill>
                <a:latin typeface="Consolas"/>
              </a:rPr>
              <a:t>import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java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rmi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server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UnicastRemoteObject</a:t>
            </a:r>
            <a:r>
              <a:rPr sz="118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590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6CB6FF"/>
                </a:solidFill>
                <a:latin typeface="Consolas"/>
              </a:rPr>
              <a:t>public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6CB6FF"/>
                </a:solidFill>
                <a:latin typeface="Consolas"/>
              </a:rPr>
              <a:t>class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Server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6CB6FF"/>
                </a:solidFill>
                <a:latin typeface="Consolas"/>
              </a:rPr>
              <a:t>extends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ImplExample</a:t>
            </a:r>
            <a:r>
              <a:rPr sz="118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</a:t>
            </a:r>
            <a:r>
              <a:rPr sz="1180">
                <a:solidFill>
                  <a:srgbClr val="6CB6FF"/>
                </a:solidFill>
                <a:latin typeface="Consolas"/>
              </a:rPr>
              <a:t>public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6CB6FF"/>
                </a:solidFill>
                <a:latin typeface="Consolas"/>
              </a:rPr>
              <a:t>static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6CB6FF"/>
                </a:solidFill>
                <a:latin typeface="Consolas"/>
              </a:rPr>
              <a:t>void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main</a:t>
            </a:r>
            <a:r>
              <a:rPr sz="1180">
                <a:solidFill>
                  <a:srgbClr val="E6E9EF"/>
                </a:solidFill>
                <a:latin typeface="Consolas"/>
              </a:rPr>
              <a:t>(</a:t>
            </a:r>
            <a:r>
              <a:rPr sz="1180">
                <a:solidFill>
                  <a:srgbClr val="6CB6FF"/>
                </a:solidFill>
                <a:latin typeface="Consolas"/>
              </a:rPr>
              <a:t>String</a:t>
            </a:r>
            <a:r>
              <a:rPr sz="1180">
                <a:solidFill>
                  <a:srgbClr val="E6E9EF"/>
                </a:solidFill>
                <a:latin typeface="Consolas"/>
              </a:rPr>
              <a:t>[] </a:t>
            </a:r>
            <a:r>
              <a:rPr sz="1180">
                <a:solidFill>
                  <a:srgbClr val="E6E9EF"/>
                </a:solidFill>
                <a:latin typeface="Consolas"/>
              </a:rPr>
              <a:t>args</a:t>
            </a:r>
            <a:r>
              <a:rPr sz="1180">
                <a:solidFill>
                  <a:srgbClr val="E6E9EF"/>
                </a:solidFill>
                <a:latin typeface="Consolas"/>
              </a:rPr>
              <a:t>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</a:t>
            </a:r>
            <a:r>
              <a:rPr sz="1180">
                <a:solidFill>
                  <a:srgbClr val="6CB6FF"/>
                </a:solidFill>
                <a:latin typeface="Consolas"/>
              </a:rPr>
              <a:t>try</a:t>
            </a:r>
            <a:r>
              <a:rPr sz="118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ImplExample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obj</a:t>
            </a:r>
            <a:r>
              <a:rPr sz="1180">
                <a:solidFill>
                  <a:srgbClr val="E6E9EF"/>
                </a:solidFill>
                <a:latin typeface="Consolas"/>
              </a:rPr>
              <a:t> = </a:t>
            </a:r>
            <a:r>
              <a:rPr sz="1180">
                <a:solidFill>
                  <a:srgbClr val="6CB6FF"/>
                </a:solidFill>
                <a:latin typeface="Consolas"/>
              </a:rPr>
              <a:t>new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ImplExample</a:t>
            </a:r>
            <a:r>
              <a:rPr sz="1180">
                <a:solidFill>
                  <a:srgbClr val="E6E9EF"/>
                </a:solidFill>
                <a:latin typeface="Consolas"/>
              </a:rPr>
              <a:t>();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Hello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stub</a:t>
            </a:r>
            <a:r>
              <a:rPr sz="1180">
                <a:solidFill>
                  <a:srgbClr val="E6E9EF"/>
                </a:solidFill>
                <a:latin typeface="Consolas"/>
              </a:rPr>
              <a:t> = (</a:t>
            </a:r>
            <a:r>
              <a:rPr sz="1180">
                <a:solidFill>
                  <a:srgbClr val="E6E9EF"/>
                </a:solidFill>
                <a:latin typeface="Consolas"/>
              </a:rPr>
              <a:t>Hello</a:t>
            </a:r>
            <a:r>
              <a:rPr sz="1180">
                <a:solidFill>
                  <a:srgbClr val="E6E9EF"/>
                </a:solidFill>
                <a:latin typeface="Consolas"/>
              </a:rPr>
              <a:t>)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  </a:t>
            </a:r>
            <a:r>
              <a:rPr sz="1180">
                <a:solidFill>
                  <a:srgbClr val="E6E9EF"/>
                </a:solidFill>
                <a:latin typeface="Consolas"/>
              </a:rPr>
              <a:t>UnicastRemoteObject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exportObject</a:t>
            </a:r>
            <a:r>
              <a:rPr sz="1180">
                <a:solidFill>
                  <a:srgbClr val="E6E9EF"/>
                </a:solidFill>
                <a:latin typeface="Consolas"/>
              </a:rPr>
              <a:t>(</a:t>
            </a:r>
            <a:r>
              <a:rPr sz="1180">
                <a:solidFill>
                  <a:srgbClr val="E6E9EF"/>
                </a:solidFill>
                <a:latin typeface="Consolas"/>
              </a:rPr>
              <a:t>obj</a:t>
            </a:r>
            <a:r>
              <a:rPr sz="1180">
                <a:solidFill>
                  <a:srgbClr val="E6E9EF"/>
                </a:solidFill>
                <a:latin typeface="Consolas"/>
              </a:rPr>
              <a:t>, </a:t>
            </a:r>
            <a:r>
              <a:rPr sz="1180">
                <a:solidFill>
                  <a:srgbClr val="E6E9EF"/>
                </a:solidFill>
                <a:latin typeface="Consolas"/>
              </a:rPr>
              <a:t>0</a:t>
            </a:r>
            <a:r>
              <a:rPr sz="118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 = </a:t>
            </a:r>
            <a:r>
              <a:rPr sz="1180">
                <a:solidFill>
                  <a:srgbClr val="E6E9EF"/>
                </a:solidFill>
                <a:latin typeface="Consolas"/>
              </a:rPr>
              <a:t>LocateRegistry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getRegistry</a:t>
            </a:r>
            <a:r>
              <a:rPr sz="1180">
                <a:solidFill>
                  <a:srgbClr val="E6E9EF"/>
                </a:solidFill>
                <a:latin typeface="Consolas"/>
              </a:rPr>
              <a:t>();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bind</a:t>
            </a:r>
            <a:r>
              <a:rPr sz="1180">
                <a:solidFill>
                  <a:srgbClr val="E6E9EF"/>
                </a:solidFill>
                <a:latin typeface="Consolas"/>
              </a:rPr>
              <a:t>(</a:t>
            </a:r>
            <a:r>
              <a:rPr sz="1180">
                <a:solidFill>
                  <a:srgbClr val="7EE787"/>
                </a:solidFill>
                <a:latin typeface="Consolas"/>
              </a:rPr>
              <a:t>"Hello"</a:t>
            </a:r>
            <a:r>
              <a:rPr sz="1180">
                <a:solidFill>
                  <a:srgbClr val="E6E9EF"/>
                </a:solidFill>
                <a:latin typeface="Consolas"/>
              </a:rPr>
              <a:t>, </a:t>
            </a:r>
            <a:r>
              <a:rPr sz="1180">
                <a:solidFill>
                  <a:srgbClr val="E6E9EF"/>
                </a:solidFill>
                <a:latin typeface="Consolas"/>
              </a:rPr>
              <a:t>stub</a:t>
            </a:r>
            <a:r>
              <a:rPr sz="118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System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err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println</a:t>
            </a:r>
            <a:r>
              <a:rPr sz="1180">
                <a:solidFill>
                  <a:srgbClr val="E6E9EF"/>
                </a:solidFill>
                <a:latin typeface="Consolas"/>
              </a:rPr>
              <a:t>(</a:t>
            </a:r>
            <a:r>
              <a:rPr sz="1180">
                <a:solidFill>
                  <a:srgbClr val="7EE787"/>
                </a:solidFill>
                <a:latin typeface="Consolas"/>
              </a:rPr>
              <a:t>"RMI Server running..."</a:t>
            </a:r>
            <a:r>
              <a:rPr sz="118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} </a:t>
            </a:r>
            <a:r>
              <a:rPr sz="1180">
                <a:solidFill>
                  <a:srgbClr val="6CB6FF"/>
                </a:solidFill>
                <a:latin typeface="Consolas"/>
              </a:rPr>
              <a:t>catch</a:t>
            </a:r>
            <a:r>
              <a:rPr sz="1180">
                <a:solidFill>
                  <a:srgbClr val="E6E9EF"/>
                </a:solidFill>
                <a:latin typeface="Consolas"/>
              </a:rPr>
              <a:t> (</a:t>
            </a:r>
            <a:r>
              <a:rPr sz="1180">
                <a:solidFill>
                  <a:srgbClr val="E6E9EF"/>
                </a:solidFill>
                <a:latin typeface="Consolas"/>
              </a:rPr>
              <a:t>Exception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e</a:t>
            </a:r>
            <a:r>
              <a:rPr sz="1180">
                <a:solidFill>
                  <a:srgbClr val="E6E9EF"/>
                </a:solidFill>
                <a:latin typeface="Consolas"/>
              </a:rPr>
              <a:t>) { </a:t>
            </a:r>
            <a:r>
              <a:rPr sz="1180">
                <a:solidFill>
                  <a:srgbClr val="E6E9EF"/>
                </a:solidFill>
                <a:latin typeface="Consolas"/>
              </a:rPr>
              <a:t>e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printStackTrace</a:t>
            </a:r>
            <a:r>
              <a:rPr sz="1180">
                <a:solidFill>
                  <a:srgbClr val="E6E9EF"/>
                </a:solidFill>
                <a:latin typeface="Consolas"/>
              </a:rPr>
              <a:t>();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4 · Client — lookup &amp; invoke · Client.java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440680" cy="466344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146304" cy="466344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584960"/>
            <a:ext cx="5074920" cy="451104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6CB6FF"/>
                </a:solidFill>
                <a:latin typeface="Consolas"/>
              </a:rPr>
              <a:t>import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java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rmi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LocateRegistry</a:t>
            </a:r>
            <a:r>
              <a:rPr sz="118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6CB6FF"/>
                </a:solidFill>
                <a:latin typeface="Consolas"/>
              </a:rPr>
              <a:t>import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java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rmi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590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6CB6FF"/>
                </a:solidFill>
                <a:latin typeface="Consolas"/>
              </a:rPr>
              <a:t>public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6CB6FF"/>
                </a:solidFill>
                <a:latin typeface="Consolas"/>
              </a:rPr>
              <a:t>class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Client</a:t>
            </a:r>
            <a:r>
              <a:rPr sz="118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</a:t>
            </a:r>
            <a:r>
              <a:rPr sz="1180">
                <a:solidFill>
                  <a:srgbClr val="6CB6FF"/>
                </a:solidFill>
                <a:latin typeface="Consolas"/>
              </a:rPr>
              <a:t>public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6CB6FF"/>
                </a:solidFill>
                <a:latin typeface="Consolas"/>
              </a:rPr>
              <a:t>static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6CB6FF"/>
                </a:solidFill>
                <a:latin typeface="Consolas"/>
              </a:rPr>
              <a:t>void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main</a:t>
            </a:r>
            <a:r>
              <a:rPr sz="1180">
                <a:solidFill>
                  <a:srgbClr val="E6E9EF"/>
                </a:solidFill>
                <a:latin typeface="Consolas"/>
              </a:rPr>
              <a:t>(</a:t>
            </a:r>
            <a:r>
              <a:rPr sz="1180">
                <a:solidFill>
                  <a:srgbClr val="6CB6FF"/>
                </a:solidFill>
                <a:latin typeface="Consolas"/>
              </a:rPr>
              <a:t>String</a:t>
            </a:r>
            <a:r>
              <a:rPr sz="1180">
                <a:solidFill>
                  <a:srgbClr val="E6E9EF"/>
                </a:solidFill>
                <a:latin typeface="Consolas"/>
              </a:rPr>
              <a:t>[] </a:t>
            </a:r>
            <a:r>
              <a:rPr sz="1180">
                <a:solidFill>
                  <a:srgbClr val="E6E9EF"/>
                </a:solidFill>
                <a:latin typeface="Consolas"/>
              </a:rPr>
              <a:t>args</a:t>
            </a:r>
            <a:r>
              <a:rPr sz="1180">
                <a:solidFill>
                  <a:srgbClr val="E6E9EF"/>
                </a:solidFill>
                <a:latin typeface="Consolas"/>
              </a:rPr>
              <a:t>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</a:t>
            </a:r>
            <a:r>
              <a:rPr sz="1180">
                <a:solidFill>
                  <a:srgbClr val="6CB6FF"/>
                </a:solidFill>
                <a:latin typeface="Consolas"/>
              </a:rPr>
              <a:t>try</a:t>
            </a:r>
            <a:r>
              <a:rPr sz="118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 =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  </a:t>
            </a:r>
            <a:r>
              <a:rPr sz="1180">
                <a:solidFill>
                  <a:srgbClr val="E6E9EF"/>
                </a:solidFill>
                <a:latin typeface="Consolas"/>
              </a:rPr>
              <a:t>LocateRegistry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getRegistry</a:t>
            </a:r>
            <a:r>
              <a:rPr sz="1180">
                <a:solidFill>
                  <a:srgbClr val="E6E9EF"/>
                </a:solidFill>
                <a:latin typeface="Consolas"/>
              </a:rPr>
              <a:t>(</a:t>
            </a:r>
            <a:r>
              <a:rPr sz="1180">
                <a:solidFill>
                  <a:srgbClr val="6CB6FF"/>
                </a:solidFill>
                <a:latin typeface="Consolas"/>
              </a:rPr>
              <a:t>null</a:t>
            </a:r>
            <a:r>
              <a:rPr sz="118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Hello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stub</a:t>
            </a:r>
            <a:r>
              <a:rPr sz="1180">
                <a:solidFill>
                  <a:srgbClr val="E6E9EF"/>
                </a:solidFill>
                <a:latin typeface="Consolas"/>
              </a:rPr>
              <a:t> = (</a:t>
            </a:r>
            <a:r>
              <a:rPr sz="1180">
                <a:solidFill>
                  <a:srgbClr val="E6E9EF"/>
                </a:solidFill>
                <a:latin typeface="Consolas"/>
              </a:rPr>
              <a:t>Hello</a:t>
            </a:r>
            <a:r>
              <a:rPr sz="1180">
                <a:solidFill>
                  <a:srgbClr val="E6E9EF"/>
                </a:solidFill>
                <a:latin typeface="Consolas"/>
              </a:rPr>
              <a:t>) </a:t>
            </a:r>
            <a:r>
              <a:rPr sz="1180">
                <a:solidFill>
                  <a:srgbClr val="E6E9EF"/>
                </a:solidFill>
                <a:latin typeface="Consolas"/>
              </a:rPr>
              <a:t>registry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lookup</a:t>
            </a:r>
            <a:r>
              <a:rPr sz="1180">
                <a:solidFill>
                  <a:srgbClr val="E6E9EF"/>
                </a:solidFill>
                <a:latin typeface="Consolas"/>
              </a:rPr>
              <a:t>(</a:t>
            </a:r>
            <a:r>
              <a:rPr sz="1180">
                <a:solidFill>
                  <a:srgbClr val="7EE787"/>
                </a:solidFill>
                <a:latin typeface="Consolas"/>
              </a:rPr>
              <a:t>"Hello"</a:t>
            </a:r>
            <a:r>
              <a:rPr sz="118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stub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printMsg</a:t>
            </a:r>
            <a:r>
              <a:rPr sz="1180">
                <a:solidFill>
                  <a:srgbClr val="E6E9EF"/>
                </a:solidFill>
                <a:latin typeface="Consolas"/>
              </a:rPr>
              <a:t>();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</a:t>
            </a:r>
            <a:r>
              <a:rPr sz="1180">
                <a:solidFill>
                  <a:srgbClr val="E6E9EF"/>
                </a:solidFill>
                <a:latin typeface="Consolas"/>
              </a:rPr>
              <a:t>System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out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println</a:t>
            </a:r>
            <a:r>
              <a:rPr sz="1180">
                <a:solidFill>
                  <a:srgbClr val="E6E9EF"/>
                </a:solidFill>
                <a:latin typeface="Consolas"/>
              </a:rPr>
              <a:t>(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    </a:t>
            </a:r>
            <a:r>
              <a:rPr sz="1180">
                <a:solidFill>
                  <a:srgbClr val="7EE787"/>
                </a:solidFill>
                <a:latin typeface="Consolas"/>
              </a:rPr>
              <a:t>"Remote method invoked from the client."</a:t>
            </a:r>
            <a:r>
              <a:rPr sz="118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  } </a:t>
            </a:r>
            <a:r>
              <a:rPr sz="1180">
                <a:solidFill>
                  <a:srgbClr val="6CB6FF"/>
                </a:solidFill>
                <a:latin typeface="Consolas"/>
              </a:rPr>
              <a:t>catch</a:t>
            </a:r>
            <a:r>
              <a:rPr sz="1180">
                <a:solidFill>
                  <a:srgbClr val="E6E9EF"/>
                </a:solidFill>
                <a:latin typeface="Consolas"/>
              </a:rPr>
              <a:t> (</a:t>
            </a:r>
            <a:r>
              <a:rPr sz="1180">
                <a:solidFill>
                  <a:srgbClr val="E6E9EF"/>
                </a:solidFill>
                <a:latin typeface="Consolas"/>
              </a:rPr>
              <a:t>Exception</a:t>
            </a:r>
            <a:r>
              <a:rPr sz="1180">
                <a:solidFill>
                  <a:srgbClr val="E6E9EF"/>
                </a:solidFill>
                <a:latin typeface="Consolas"/>
              </a:rPr>
              <a:t> </a:t>
            </a:r>
            <a:r>
              <a:rPr sz="1180">
                <a:solidFill>
                  <a:srgbClr val="E6E9EF"/>
                </a:solidFill>
                <a:latin typeface="Consolas"/>
              </a:rPr>
              <a:t>e</a:t>
            </a:r>
            <a:r>
              <a:rPr sz="1180">
                <a:solidFill>
                  <a:srgbClr val="E6E9EF"/>
                </a:solidFill>
                <a:latin typeface="Consolas"/>
              </a:rPr>
              <a:t>) { </a:t>
            </a:r>
            <a:r>
              <a:rPr sz="1180">
                <a:solidFill>
                  <a:srgbClr val="E6E9EF"/>
                </a:solidFill>
                <a:latin typeface="Consolas"/>
              </a:rPr>
              <a:t>e</a:t>
            </a:r>
            <a:r>
              <a:rPr sz="1180">
                <a:solidFill>
                  <a:srgbClr val="E6E9EF"/>
                </a:solidFill>
                <a:latin typeface="Consolas"/>
              </a:rPr>
              <a:t>.</a:t>
            </a:r>
            <a:r>
              <a:rPr sz="1180">
                <a:solidFill>
                  <a:srgbClr val="E6E9EF"/>
                </a:solidFill>
                <a:latin typeface="Consolas"/>
              </a:rPr>
              <a:t>printStackTrace</a:t>
            </a:r>
            <a:r>
              <a:rPr sz="1180">
                <a:solidFill>
                  <a:srgbClr val="E6E9EF"/>
                </a:solidFill>
                <a:latin typeface="Consolas"/>
              </a:rPr>
              <a:t>();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18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Java Servlets: Web Application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400800" cy="41148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0052CC"/>
                </a:solidFill>
                <a:latin typeface="Calibri"/>
              </a:rPr>
              <a:t>▸  </a:t>
            </a:r>
            <a:r>
              <a:rPr sz="1600" b="1">
                <a:solidFill>
                  <a:srgbClr val="0B1F3A"/>
                </a:solidFill>
                <a:latin typeface="Calibri"/>
              </a:rPr>
              <a:t>Purpose: </a:t>
            </a:r>
            <a:r>
              <a:rPr sz="1600" b="0">
                <a:solidFill>
                  <a:srgbClr val="0B1F3A"/>
                </a:solidFill>
                <a:latin typeface="Calibri"/>
              </a:rPr>
              <a:t>Java classes that run inside a Web Container (e.g., Tomcat) to generate dynamic HTML, manage sessions, and reach databases via JDBC.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0052CC"/>
                </a:solidFill>
                <a:latin typeface="Calibri"/>
              </a:rPr>
              <a:t>▸  </a:t>
            </a:r>
            <a:r>
              <a:rPr sz="1600" b="1">
                <a:solidFill>
                  <a:srgbClr val="0B1F3A"/>
                </a:solidFill>
                <a:latin typeface="Calibri"/>
              </a:rPr>
              <a:t>Servlets vs. CGI: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F28C00"/>
                </a:solidFill>
                <a:latin typeface="Calibri"/>
              </a:rPr>
              <a:t>–  </a:t>
            </a:r>
            <a:r>
              <a:rPr sz="1500" b="1">
                <a:solidFill>
                  <a:srgbClr val="4A5568"/>
                </a:solidFill>
                <a:latin typeface="Calibri"/>
              </a:rPr>
              <a:t>CGI flaw: </a:t>
            </a:r>
            <a:r>
              <a:rPr sz="1500" b="0">
                <a:solidFill>
                  <a:srgbClr val="4A5568"/>
                </a:solidFill>
                <a:latin typeface="Calibri"/>
              </a:rPr>
              <a:t>spawns a heavy OS process per HTTP request — servers crash under load.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F28C00"/>
                </a:solidFill>
                <a:latin typeface="Calibri"/>
              </a:rPr>
              <a:t>–  </a:t>
            </a:r>
            <a:r>
              <a:rPr sz="1500" b="1">
                <a:solidFill>
                  <a:srgbClr val="4A5568"/>
                </a:solidFill>
                <a:latin typeface="Calibri"/>
              </a:rPr>
              <a:t>Servlet advantage: </a:t>
            </a:r>
            <a:r>
              <a:rPr sz="1500" b="0">
                <a:solidFill>
                  <a:srgbClr val="4A5568"/>
                </a:solidFill>
                <a:latin typeface="Calibri"/>
              </a:rPr>
              <a:t>one instance in memory + a lightweight Java thread per request — massively scalable.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325880"/>
            <a:ext cx="4297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7A3B"/>
                </a:solidFill>
                <a:latin typeface="Calibri"/>
              </a:rPr>
              <a:t>WEB CONTAINER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69164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HTTP Request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1160" y="2286000"/>
            <a:ext cx="365760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60604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Lightweight Java Thread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81160" y="3200400"/>
            <a:ext cx="365760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352044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Single Servlet Instance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81160" y="4114800"/>
            <a:ext cx="365760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18120" y="443484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HTTP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Core Servlet Packages &amp; Hierarchy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40680" cy="548640"/>
          </a:xfrm>
          <a:prstGeom prst="round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54406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javax.servlet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Protocol-independent.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4983480" cy="8686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0052CC"/>
                </a:solidFill>
                <a:latin typeface="Calibri"/>
              </a:rPr>
              <a:t>▸  </a:t>
            </a:r>
            <a:r>
              <a:rPr sz="1300" b="0">
                <a:solidFill>
                  <a:srgbClr val="0B1F3A"/>
                </a:solidFill>
                <a:latin typeface="Calibri"/>
              </a:rPr>
              <a:t>Base Servlet interface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0052CC"/>
                </a:solidFill>
                <a:latin typeface="Calibri"/>
              </a:rPr>
              <a:t>▸  </a:t>
            </a:r>
            <a:r>
              <a:rPr sz="1300" b="0">
                <a:solidFill>
                  <a:srgbClr val="0B1F3A"/>
                </a:solidFill>
                <a:latin typeface="Calibri"/>
              </a:rPr>
              <a:t>Abstract GenericServlet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440680" cy="548640"/>
          </a:xfrm>
          <a:prstGeom prst="round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4406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javax.servlet.http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HTTP-specific.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4983480" cy="8686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0052CC"/>
                </a:solidFill>
                <a:latin typeface="Calibri"/>
              </a:rPr>
              <a:t>▸  </a:t>
            </a:r>
            <a:r>
              <a:rPr sz="1300" b="0">
                <a:solidFill>
                  <a:srgbClr val="0B1F3A"/>
                </a:solidFill>
                <a:latin typeface="Calibri"/>
              </a:rPr>
              <a:t>Contains the HttpServlet 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11201400" cy="228600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0B7A3B"/>
                </a:solidFill>
                <a:latin typeface="Calibri"/>
              </a:rPr>
              <a:t>Why extend HttpServlet?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515600" cy="15544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0052CC"/>
                </a:solidFill>
                <a:latin typeface="Calibri"/>
              </a:rPr>
              <a:t>▸  </a:t>
            </a:r>
            <a:r>
              <a:rPr sz="1600" b="0">
                <a:solidFill>
                  <a:srgbClr val="0B1F3A"/>
                </a:solidFill>
                <a:latin typeface="Calibri"/>
              </a:rPr>
              <a:t>Provides a sophisticated internal </a:t>
            </a:r>
            <a:r>
              <a:rPr sz="1600" b="1">
                <a:solidFill>
                  <a:srgbClr val="0052CC"/>
                </a:solidFill>
                <a:latin typeface="Calibri"/>
              </a:rPr>
              <a:t>service()</a:t>
            </a:r>
            <a:r>
              <a:rPr sz="1600" b="0">
                <a:solidFill>
                  <a:srgbClr val="0B1F3A"/>
                </a:solidFill>
                <a:latin typeface="Calibri"/>
              </a:rPr>
              <a:t> method that automatically analyzes the incoming HTTP request.</a:t>
            </a:r>
          </a:p>
          <a:p>
            <a:pPr marL="0" indent="0"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0052CC"/>
                </a:solidFill>
                <a:latin typeface="Calibri"/>
              </a:rPr>
              <a:t>▸  </a:t>
            </a:r>
            <a:r>
              <a:rPr sz="1600" b="0">
                <a:solidFill>
                  <a:srgbClr val="0B1F3A"/>
                </a:solidFill>
                <a:latin typeface="Calibri"/>
              </a:rPr>
              <a:t>Seamlessly routes the request to specialized handlers like </a:t>
            </a:r>
            <a:r>
              <a:rPr sz="1600" b="1">
                <a:solidFill>
                  <a:srgbClr val="0052CC"/>
                </a:solidFill>
                <a:latin typeface="Calibri"/>
              </a:rPr>
              <a:t>doGet()</a:t>
            </a:r>
            <a:r>
              <a:rPr sz="1600" b="0">
                <a:solidFill>
                  <a:srgbClr val="0B1F3A"/>
                </a:solidFill>
                <a:latin typeface="Calibri"/>
              </a:rPr>
              <a:t> or </a:t>
            </a:r>
            <a:r>
              <a:rPr sz="1600" b="1">
                <a:solidFill>
                  <a:srgbClr val="0052CC"/>
                </a:solidFill>
                <a:latin typeface="Calibri"/>
              </a:rPr>
              <a:t>doPost()</a:t>
            </a:r>
            <a:r>
              <a:rPr sz="1600" b="0">
                <a:solidFill>
                  <a:srgbClr val="0B1F3A"/>
                </a:solidFill>
                <a:latin typeface="Calibri"/>
              </a:rPr>
              <a:t> — keeping code clean.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Deterministic Servlet Life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4A5568"/>
                </a:solidFill>
                <a:latin typeface="Calibri"/>
              </a:rPr>
              <a:t>Orchestrated entirely by the Web Container: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743200" cy="889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2148840"/>
            <a:ext cx="822960" cy="8229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B1F3A"/>
                </a:solidFill>
                <a:latin typeface="Calibri"/>
              </a:rPr>
              <a:t>Loading &amp; Instantiation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Container loads the class and creates a single instance in memory.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27832" y="3291840"/>
            <a:ext cx="146304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1828800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828800"/>
            <a:ext cx="2743200" cy="889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25112" y="2148840"/>
            <a:ext cx="822960" cy="82296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154680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052CC"/>
                </a:solidFill>
                <a:latin typeface="Consolas"/>
              </a:rPr>
              <a:t>init()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79476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Called exactly once. Heavy bootstrapping — e.g. persistent JDBC connections.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89904" y="3291840"/>
            <a:ext cx="146304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7064" y="1828800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828800"/>
            <a:ext cx="2743200" cy="889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87184" y="2148840"/>
            <a:ext cx="822960" cy="822960"/>
          </a:xfrm>
          <a:prstGeom prst="ellips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154680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B7A3B"/>
                </a:solidFill>
                <a:latin typeface="Consolas"/>
              </a:rPr>
              <a:t>service()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79476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Called for every request; spawns a new thread. Code must be thread-safe (no global state).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51976" y="3291840"/>
            <a:ext cx="146304" cy="164592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89136" y="1828800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89136" y="1828800"/>
            <a:ext cx="2743200" cy="889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49256" y="2148840"/>
            <a:ext cx="822960" cy="822960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3154680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F28C00"/>
                </a:solidFill>
                <a:latin typeface="Consolas"/>
              </a:rPr>
              <a:t>destroy()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379476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Called once at shutdown to gracefully close DB connections and prevent leaks.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Basic Servlet Implementation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201400" cy="502920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46304" cy="50292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9248"/>
            <a:ext cx="10835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B9C2D4"/>
                </a:solidFill>
                <a:latin typeface="Consolas"/>
              </a:rPr>
              <a:t>LifeCycleExampleServlet.java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28648"/>
            <a:ext cx="10835640" cy="462280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import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javax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servlet</a:t>
            </a:r>
            <a:r>
              <a:rPr sz="1200">
                <a:solidFill>
                  <a:srgbClr val="E6E9EF"/>
                </a:solidFill>
                <a:latin typeface="Consolas"/>
              </a:rPr>
              <a:t>.*;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import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javax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servlet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http</a:t>
            </a:r>
            <a:r>
              <a:rPr sz="1200">
                <a:solidFill>
                  <a:srgbClr val="E6E9EF"/>
                </a:solidFill>
                <a:latin typeface="Consolas"/>
              </a:rPr>
              <a:t>.*;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import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java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io</a:t>
            </a:r>
            <a:r>
              <a:rPr sz="1200">
                <a:solidFill>
                  <a:srgbClr val="E6E9EF"/>
                </a:solidFill>
                <a:latin typeface="Consolas"/>
              </a:rPr>
              <a:t>.*;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public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class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LifeCycleExampleServlet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extends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HttpServlet</a:t>
            </a:r>
            <a:r>
              <a:rPr sz="120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8A93A6"/>
                </a:solidFill>
                <a:latin typeface="Consolas"/>
              </a:rPr>
              <a:t>  // final -&gt; thread-safe under concurrent requests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</a:t>
            </a:r>
            <a:r>
              <a:rPr sz="1200">
                <a:solidFill>
                  <a:srgbClr val="6CB6FF"/>
                </a:solidFill>
                <a:latin typeface="Consolas"/>
              </a:rPr>
              <a:t>private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final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String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greetingMessage</a:t>
            </a:r>
            <a:r>
              <a:rPr sz="1200">
                <a:solidFill>
                  <a:srgbClr val="E6E9EF"/>
                </a:solidFill>
                <a:latin typeface="Consolas"/>
              </a:rPr>
              <a:t> = </a:t>
            </a:r>
            <a:r>
              <a:rPr sz="1200">
                <a:solidFill>
                  <a:srgbClr val="7EE787"/>
                </a:solidFill>
                <a:latin typeface="Consolas"/>
              </a:rPr>
              <a:t>"Welcome to Advanced Java Servlets!"</a:t>
            </a:r>
            <a:r>
              <a:rPr sz="120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@</a:t>
            </a:r>
            <a:r>
              <a:rPr sz="1200">
                <a:solidFill>
                  <a:srgbClr val="E6E9EF"/>
                </a:solidFill>
                <a:latin typeface="Consolas"/>
              </a:rPr>
              <a:t>Override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public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void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init</a:t>
            </a:r>
            <a:r>
              <a:rPr sz="1200">
                <a:solidFill>
                  <a:srgbClr val="E6E9EF"/>
                </a:solidFill>
                <a:latin typeface="Consolas"/>
              </a:rPr>
              <a:t>() </a:t>
            </a:r>
            <a:r>
              <a:rPr sz="1200">
                <a:solidFill>
                  <a:srgbClr val="6CB6FF"/>
                </a:solidFill>
                <a:latin typeface="Consolas"/>
              </a:rPr>
              <a:t>throws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ServletException</a:t>
            </a:r>
            <a:r>
              <a:rPr sz="120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System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out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println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7EE787"/>
                </a:solidFill>
                <a:latin typeface="Consolas"/>
              </a:rPr>
              <a:t>"Servlet Initialization Phase Initiated."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@</a:t>
            </a:r>
            <a:r>
              <a:rPr sz="1200">
                <a:solidFill>
                  <a:srgbClr val="E6E9EF"/>
                </a:solidFill>
                <a:latin typeface="Consolas"/>
              </a:rPr>
              <a:t>Override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</a:t>
            </a:r>
            <a:r>
              <a:rPr sz="1200">
                <a:solidFill>
                  <a:srgbClr val="6CB6FF"/>
                </a:solidFill>
                <a:latin typeface="Consolas"/>
              </a:rPr>
              <a:t>protected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void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doGet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HttpServletRequest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req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HttpServletResponse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resp</a:t>
            </a:r>
            <a:r>
              <a:rPr sz="1200">
                <a:solidFill>
                  <a:srgbClr val="E6E9EF"/>
                </a:solidFill>
                <a:latin typeface="Consolas"/>
              </a:rPr>
              <a:t>)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  </a:t>
            </a:r>
            <a:r>
              <a:rPr sz="1200">
                <a:solidFill>
                  <a:srgbClr val="6CB6FF"/>
                </a:solidFill>
                <a:latin typeface="Consolas"/>
              </a:rPr>
              <a:t>throws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ServletException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IOException</a:t>
            </a:r>
            <a:r>
              <a:rPr sz="120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resp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setContentType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7EE787"/>
                </a:solidFill>
                <a:latin typeface="Consolas"/>
              </a:rPr>
              <a:t>"text/html"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6CB6FF"/>
                </a:solidFill>
                <a:latin typeface="Consolas"/>
              </a:rPr>
              <a:t>try</a:t>
            </a:r>
            <a:r>
              <a:rPr sz="1200">
                <a:solidFill>
                  <a:srgbClr val="E6E9EF"/>
                </a:solidFill>
                <a:latin typeface="Consolas"/>
              </a:rPr>
              <a:t> (</a:t>
            </a:r>
            <a:r>
              <a:rPr sz="1200">
                <a:solidFill>
                  <a:srgbClr val="E6E9EF"/>
                </a:solidFill>
                <a:latin typeface="Consolas"/>
              </a:rPr>
              <a:t>PrintWriter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out</a:t>
            </a:r>
            <a:r>
              <a:rPr sz="1200">
                <a:solidFill>
                  <a:srgbClr val="E6E9EF"/>
                </a:solidFill>
                <a:latin typeface="Consolas"/>
              </a:rPr>
              <a:t> = </a:t>
            </a:r>
            <a:r>
              <a:rPr sz="1200">
                <a:solidFill>
                  <a:srgbClr val="E6E9EF"/>
                </a:solidFill>
                <a:latin typeface="Consolas"/>
              </a:rPr>
              <a:t>resp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getWriter</a:t>
            </a:r>
            <a:r>
              <a:rPr sz="1200">
                <a:solidFill>
                  <a:srgbClr val="E6E9EF"/>
                </a:solidFill>
                <a:latin typeface="Consolas"/>
              </a:rPr>
              <a:t>())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  </a:t>
            </a:r>
            <a:r>
              <a:rPr sz="1200">
                <a:solidFill>
                  <a:srgbClr val="E6E9EF"/>
                </a:solidFill>
                <a:latin typeface="Consolas"/>
              </a:rPr>
              <a:t>out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println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7EE787"/>
                </a:solidFill>
                <a:latin typeface="Consolas"/>
              </a:rPr>
              <a:t>"&lt;html&gt;&lt;body&gt;&lt;h1&gt;"</a:t>
            </a:r>
            <a:r>
              <a:rPr sz="1200">
                <a:solidFill>
                  <a:srgbClr val="E6E9EF"/>
                </a:solidFill>
                <a:latin typeface="Consolas"/>
              </a:rPr>
              <a:t> + </a:t>
            </a:r>
            <a:r>
              <a:rPr sz="1200">
                <a:solidFill>
                  <a:srgbClr val="E6E9EF"/>
                </a:solidFill>
                <a:latin typeface="Consolas"/>
              </a:rPr>
              <a:t>greetingMessage</a:t>
            </a:r>
            <a:r>
              <a:rPr sz="1200">
                <a:solidFill>
                  <a:srgbClr val="E6E9EF"/>
                </a:solidFill>
                <a:latin typeface="Consolas"/>
              </a:rPr>
              <a:t> + </a:t>
            </a:r>
            <a:r>
              <a:rPr sz="1200">
                <a:solidFill>
                  <a:srgbClr val="7EE787"/>
                </a:solidFill>
                <a:latin typeface="Consolas"/>
              </a:rPr>
              <a:t>"&lt;/h1&gt;"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  </a:t>
            </a:r>
            <a:r>
              <a:rPr sz="1200">
                <a:solidFill>
                  <a:srgbClr val="E6E9EF"/>
                </a:solidFill>
                <a:latin typeface="Consolas"/>
              </a:rPr>
              <a:t>out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println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7EE787"/>
                </a:solidFill>
                <a:latin typeface="Consolas"/>
              </a:rPr>
              <a:t>"&lt;p&gt;The Servlet container routed this GET request.&lt;/p&gt;"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  </a:t>
            </a:r>
            <a:r>
              <a:rPr sz="1200">
                <a:solidFill>
                  <a:srgbClr val="E6E9EF"/>
                </a:solidFill>
                <a:latin typeface="Consolas"/>
              </a:rPr>
              <a:t>out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println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7EE787"/>
                </a:solidFill>
                <a:latin typeface="Consolas"/>
              </a:rPr>
              <a:t>"&lt;/body&gt;&lt;/html&gt;"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@</a:t>
            </a:r>
            <a:r>
              <a:rPr sz="1200">
                <a:solidFill>
                  <a:srgbClr val="E6E9EF"/>
                </a:solidFill>
                <a:latin typeface="Consolas"/>
              </a:rPr>
              <a:t>Override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public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void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destroy</a:t>
            </a:r>
            <a:r>
              <a:rPr sz="1200">
                <a:solidFill>
                  <a:srgbClr val="E6E9EF"/>
                </a:solidFill>
                <a:latin typeface="Consolas"/>
              </a:rPr>
              <a:t>()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System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out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println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7EE787"/>
                </a:solidFill>
                <a:latin typeface="Consolas"/>
              </a:rPr>
              <a:t>"Servlet Destroyed. Releasing resources."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Handling HTTP Requests: doGet() vs doPost()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01400" cy="4736592"/>
        </p:xfrm>
        <a:graphic>
          <a:graphicData uri="http://schemas.openxmlformats.org/drawingml/2006/table">
            <a:tbl>
              <a:tblPr firstRow="1" bandRow="1"/>
              <a:tblGrid>
                <a:gridCol w="3154680"/>
                <a:gridCol w="4023360"/>
                <a:gridCol w="4023360"/>
              </a:tblGrid>
              <a:tr h="67665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Architectural Feature</a:t>
                      </a:r>
                    </a:p>
                  </a:txBody>
                  <a:tcPr marL="101600" marR="76200" marT="38100" marB="381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doGet()  ·  HTTP GET</a:t>
                      </a:r>
                    </a:p>
                  </a:txBody>
                  <a:tcPr marL="101600" marR="76200" marT="38100" marB="38100"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doPost()  ·  HTTP POST</a:t>
                      </a:r>
                    </a:p>
                  </a:txBody>
                  <a:tcPr marL="101600" marR="76200" marT="38100" marB="38100" anchor="ctr">
                    <a:solidFill>
                      <a:srgbClr val="0B1F3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1F3A"/>
                          </a:solidFill>
                          <a:latin typeface="Calibri"/>
                        </a:rPr>
                        <a:t>Primary Purpose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Retrieve, fetch, or view data.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Send, save, or update data.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1F3A"/>
                          </a:solidFill>
                          <a:latin typeface="Calibri"/>
                        </a:rPr>
                        <a:t>Data Visibility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URL-encoded (visible in address bar).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Hidden inside the message body.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1F3A"/>
                          </a:solidFill>
                          <a:latin typeface="Calibri"/>
                        </a:rPr>
                        <a:t>Security Posture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Insecure for passwords / keys.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Secure for sensitive transactions.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1F3A"/>
                          </a:solidFill>
                          <a:latin typeface="Calibri"/>
                        </a:rPr>
                        <a:t>Payload Limits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Restricted (max URL length).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Theoretically limitless capacity.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1F3A"/>
                          </a:solidFill>
                          <a:latin typeface="Calibri"/>
                        </a:rPr>
                        <a:t>Idempotency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Strictly idempotent (safe to refresh).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Non-idempotent (refresh duplicates).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B1F3A"/>
                          </a:solidFill>
                          <a:latin typeface="Calibri"/>
                        </a:rPr>
                        <a:t>Caching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Can be cached and bookmarked.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4A5568"/>
                          </a:solidFill>
                          <a:latin typeface="Calibri"/>
                        </a:rPr>
                        <a:t>Cannot be bookmarked; caching blocked.</a:t>
                      </a:r>
                    </a:p>
                  </a:txBody>
                  <a:tcPr marL="101600" marR="76200" marT="38100" marB="38100"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SLIDE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Managing State &amp;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HTTP is a stateless protocol. </a:t>
            </a:r>
            <a:r>
              <a:rPr sz="1700" b="0">
                <a:solidFill>
                  <a:srgbClr val="4A5568"/>
                </a:solidFill>
                <a:latin typeface="Calibri"/>
              </a:rPr>
              <a:t>Servlets manage state &amp; configuration via two core interfaces: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914400"/>
          </a:xfrm>
          <a:prstGeom prst="round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onsolas"/>
              </a:rPr>
              <a:t>ServletConfig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Per-Servlet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4937760" cy="27432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▸  </a:t>
            </a:r>
            <a:r>
              <a:rPr sz="1500" b="0">
                <a:solidFill>
                  <a:srgbClr val="0B1F3A"/>
                </a:solidFill>
                <a:latin typeface="Calibri"/>
              </a:rPr>
              <a:t>Created during the </a:t>
            </a:r>
            <a:r>
              <a:rPr sz="1500" b="1">
                <a:solidFill>
                  <a:srgbClr val="0052CC"/>
                </a:solidFill>
                <a:latin typeface="Calibri"/>
              </a:rPr>
              <a:t>init()</a:t>
            </a:r>
            <a:r>
              <a:rPr sz="1500" b="0">
                <a:solidFill>
                  <a:srgbClr val="0B1F3A"/>
                </a:solidFill>
                <a:latin typeface="Calibri"/>
              </a:rPr>
              <a:t> phase.</a:t>
            </a:r>
          </a:p>
          <a:p>
            <a:pPr marL="0" indent="0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▸  </a:t>
            </a:r>
            <a:r>
              <a:rPr sz="1500" b="0">
                <a:solidFill>
                  <a:srgbClr val="0B1F3A"/>
                </a:solidFill>
                <a:latin typeface="Calibri"/>
              </a:rPr>
              <a:t>Completely private to that individual Servlet.</a:t>
            </a:r>
          </a:p>
          <a:p>
            <a:pPr marL="0" indent="0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▸  </a:t>
            </a:r>
            <a:r>
              <a:rPr sz="1500" b="0">
                <a:solidFill>
                  <a:srgbClr val="0B1F3A"/>
                </a:solidFill>
                <a:latin typeface="Calibri"/>
              </a:rPr>
              <a:t>Injects localized params (e.g. a file path or cryptographic salt).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4406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440680" cy="914400"/>
          </a:xfrm>
          <a:prstGeom prst="round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938528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onsolas"/>
              </a:rPr>
              <a:t>ServletContext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Application-Wide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71800"/>
            <a:ext cx="4937760" cy="27432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▸  </a:t>
            </a:r>
            <a:r>
              <a:rPr sz="1500" b="0">
                <a:solidFill>
                  <a:srgbClr val="0B1F3A"/>
                </a:solidFill>
                <a:latin typeface="Calibri"/>
              </a:rPr>
              <a:t>Represents the global environment of the web app.</a:t>
            </a:r>
          </a:p>
          <a:p>
            <a:pPr marL="0" indent="0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▸  </a:t>
            </a:r>
            <a:r>
              <a:rPr sz="1500" b="0">
                <a:solidFill>
                  <a:srgbClr val="0B1F3A"/>
                </a:solidFill>
                <a:latin typeface="Calibri"/>
              </a:rPr>
              <a:t>Shared by all Servlets in the application.</a:t>
            </a:r>
          </a:p>
          <a:p>
            <a:pPr marL="0" indent="0">
              <a:lnSpc>
                <a:spcPct val="110000"/>
              </a:lnSpc>
              <a:spcAft>
                <a:spcPts val="11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▸  </a:t>
            </a:r>
            <a:r>
              <a:rPr sz="1500" b="0">
                <a:solidFill>
                  <a:srgbClr val="0B1F3A"/>
                </a:solidFill>
                <a:latin typeface="Calibri"/>
              </a:rPr>
              <a:t>Inter-servlet communication via </a:t>
            </a:r>
            <a:r>
              <a:rPr sz="1500" b="1">
                <a:solidFill>
                  <a:srgbClr val="0B7A3B"/>
                </a:solidFill>
                <a:latin typeface="Calibri"/>
              </a:rPr>
              <a:t>setAttribute / getAttribute</a:t>
            </a:r>
            <a:r>
              <a:rPr sz="1500" b="0">
                <a:solidFill>
                  <a:srgbClr val="0B1F3A"/>
                </a:solidFill>
                <a:latin typeface="Calibr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28C00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Sample Examination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148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B9C8E6"/>
                </a:solidFill>
                <a:latin typeface="Calibri"/>
              </a:rPr>
              <a:t>Questions 4 &amp; 5 — Applets, AWT, Events, Servlets, RMI &amp; JDBC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4 — a(i)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Security Restrictions on Java Applets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4A5568"/>
                </a:solidFill>
                <a:latin typeface="Calibri"/>
              </a:rPr>
              <a:t>Applets run in a highly restricted browser-managed environment — the “sandbox” — designed to stop malicious code from harming the user's system. Primary restrictions: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5440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128016" cy="1600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File System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2"/>
            <a:ext cx="48463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Cannot read, write, rename, or delete files on the client's local file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5440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128016" cy="16002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59152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Network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16352"/>
            <a:ext cx="48463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May connect only back to the originating server host — never to arbitrary third-party servers.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5440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69080"/>
            <a:ext cx="128016" cy="16002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System Properties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90872"/>
            <a:ext cx="48463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Prevented from reading sensitive properties such as user account name or directory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69080"/>
            <a:ext cx="5440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069080"/>
            <a:ext cx="128016" cy="16002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233672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B1F3A"/>
                </a:solidFill>
                <a:latin typeface="Calibri"/>
              </a:rPr>
              <a:t>Local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90872"/>
            <a:ext cx="48463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Forbidden from starting local programs or executing native binaries on the client.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4 — a(ii)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Architecture of Java AWT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492240" cy="47548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11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1">
                <a:solidFill>
                  <a:srgbClr val="0052CC"/>
                </a:solidFill>
                <a:latin typeface="Calibri"/>
              </a:rPr>
              <a:t>AWT</a:t>
            </a:r>
            <a:r>
              <a:rPr sz="1650" b="0">
                <a:solidFill>
                  <a:srgbClr val="0B1F3A"/>
                </a:solidFill>
                <a:latin typeface="Calibri"/>
              </a:rPr>
              <a:t> is Java's original platform-independent windowing, graphics &amp; widget toolkit.</a:t>
            </a:r>
          </a:p>
          <a:p>
            <a:pPr marL="0" indent="0">
              <a:lnSpc>
                <a:spcPct val="106000"/>
              </a:lnSpc>
              <a:spcAft>
                <a:spcPts val="11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0">
                <a:solidFill>
                  <a:srgbClr val="0B1F3A"/>
                </a:solidFill>
                <a:latin typeface="Calibri"/>
              </a:rPr>
              <a:t>Fundamentally </a:t>
            </a:r>
            <a:r>
              <a:rPr sz="1650" b="1">
                <a:solidFill>
                  <a:srgbClr val="0B1F3A"/>
                </a:solidFill>
                <a:latin typeface="Calibri"/>
              </a:rPr>
              <a:t>“heavyweight”</a:t>
            </a:r>
            <a:r>
              <a:rPr sz="1650" b="0">
                <a:solidFill>
                  <a:srgbClr val="0B1F3A"/>
                </a:solidFill>
                <a:latin typeface="Calibri"/>
              </a:rPr>
              <a:t>: every component (Button, TextField) has a native </a:t>
            </a:r>
            <a:r>
              <a:rPr sz="1650" b="1">
                <a:solidFill>
                  <a:srgbClr val="0B1F3A"/>
                </a:solidFill>
                <a:latin typeface="Calibri"/>
              </a:rPr>
              <a:t>peer</a:t>
            </a:r>
            <a:r>
              <a:rPr sz="1650" b="0">
                <a:solidFill>
                  <a:srgbClr val="0B1F3A"/>
                </a:solidFill>
                <a:latin typeface="Calibri"/>
              </a:rPr>
              <a:t> provided by the OS.</a:t>
            </a:r>
          </a:p>
          <a:p>
            <a:pPr marL="0" indent="0">
              <a:lnSpc>
                <a:spcPct val="106000"/>
              </a:lnSpc>
              <a:spcAft>
                <a:spcPts val="11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0">
                <a:solidFill>
                  <a:srgbClr val="0B1F3A"/>
                </a:solidFill>
                <a:latin typeface="Calibri"/>
              </a:rPr>
              <a:t>Instantiating an AWT Button uses </a:t>
            </a:r>
            <a:r>
              <a:rPr sz="1650" b="1">
                <a:solidFill>
                  <a:srgbClr val="0052CC"/>
                </a:solidFill>
                <a:latin typeface="Calibri"/>
              </a:rPr>
              <a:t>JNI</a:t>
            </a:r>
            <a:r>
              <a:rPr sz="1650" b="0">
                <a:solidFill>
                  <a:srgbClr val="0B1F3A"/>
                </a:solidFill>
                <a:latin typeface="Calibri"/>
              </a:rPr>
              <a:t> to ask the OS (Windows / macOS / Linux) to render its own native button.</a:t>
            </a:r>
          </a:p>
          <a:p>
            <a:pPr marL="0" indent="0">
              <a:lnSpc>
                <a:spcPct val="106000"/>
              </a:lnSpc>
              <a:spcAft>
                <a:spcPts val="11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1">
                <a:solidFill>
                  <a:srgbClr val="0B1F3A"/>
                </a:solidFill>
                <a:latin typeface="Calibri"/>
              </a:rPr>
              <a:t>Result: </a:t>
            </a:r>
            <a:r>
              <a:rPr sz="1650" b="0">
                <a:solidFill>
                  <a:srgbClr val="0B1F3A"/>
                </a:solidFill>
                <a:latin typeface="Calibri"/>
              </a:rPr>
              <a:t>interfaces adopt the host OS look-and-feel automatically...</a:t>
            </a:r>
          </a:p>
          <a:p>
            <a:pPr marL="0" indent="0">
              <a:lnSpc>
                <a:spcPct val="106000"/>
              </a:lnSpc>
              <a:spcAft>
                <a:spcPts val="11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0">
                <a:solidFill>
                  <a:srgbClr val="0B1F3A"/>
                </a:solidFill>
                <a:latin typeface="Calibri"/>
              </a:rPr>
              <a:t>...but suffer </a:t>
            </a:r>
            <a:r>
              <a:rPr sz="1650" b="1">
                <a:solidFill>
                  <a:srgbClr val="C02A2A"/>
                </a:solidFill>
                <a:latin typeface="Calibri"/>
              </a:rPr>
              <a:t>architectural rigidity</a:t>
            </a:r>
            <a:r>
              <a:rPr sz="1650" b="0">
                <a:solidFill>
                  <a:srgbClr val="0B1F3A"/>
                </a:solidFill>
                <a:latin typeface="Calibri"/>
              </a:rPr>
              <a:t> — the native OS controls behaviour &amp; rendering sequence.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Calibri"/>
              </a:rPr>
              <a:t>HEAVYWEIGHT PEER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7830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AWT Component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java.awt.Button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81160" y="2542032"/>
            <a:ext cx="365760" cy="182880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88036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JNI Bridge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81160" y="3639312"/>
            <a:ext cx="365760" cy="182880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3977639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Native OS Peer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OS renders the widget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4 —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Handling Events: The Delegation Event Model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9903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>
                <a:solidFill>
                  <a:srgbClr val="0B1F3A"/>
                </a:solidFill>
                <a:latin typeface="Calibri"/>
              </a:rPr>
              <a:t>Identify the Event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28216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The GUI component (e.g. a Button) that generates the event.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30552"/>
            <a:ext cx="548640" cy="54864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1226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>
                <a:solidFill>
                  <a:srgbClr val="0B1F3A"/>
                </a:solidFill>
                <a:latin typeface="Calibri"/>
              </a:rPr>
              <a:t>Implement the Listener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4144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A class implementing the matching interface — e.g. ActionListener for clicks.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43784"/>
            <a:ext cx="548640" cy="54864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25496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>
                <a:solidFill>
                  <a:srgbClr val="0B1F3A"/>
                </a:solidFill>
                <a:latin typeface="Calibri"/>
              </a:rPr>
              <a:t>Register the Listener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15468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Link listener to source via a registration method — e.g. addActionListener().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57016"/>
            <a:ext cx="548640" cy="54864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3872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50" b="1">
                <a:solidFill>
                  <a:srgbClr val="0B1F3A"/>
                </a:solidFill>
                <a:latin typeface="Calibri"/>
              </a:rPr>
              <a:t>Define the Callback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6791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Write the code inside the overridden method — e.g. actionPerformed().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34840"/>
            <a:ext cx="11201400" cy="173736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146304" cy="173736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85640"/>
            <a:ext cx="10835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B9C2D4"/>
                </a:solidFill>
                <a:latin typeface="Consolas"/>
              </a:rPr>
              <a:t>ActionListener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765040"/>
            <a:ext cx="10835640" cy="133096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Button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btn</a:t>
            </a:r>
            <a:r>
              <a:rPr sz="1250">
                <a:solidFill>
                  <a:srgbClr val="E6E9EF"/>
                </a:solidFill>
                <a:latin typeface="Consolas"/>
              </a:rPr>
              <a:t> = </a:t>
            </a:r>
            <a:r>
              <a:rPr sz="1250">
                <a:solidFill>
                  <a:srgbClr val="6CB6FF"/>
                </a:solidFill>
                <a:latin typeface="Consolas"/>
              </a:rPr>
              <a:t>new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Button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7EE787"/>
                </a:solidFill>
                <a:latin typeface="Consolas"/>
              </a:rPr>
              <a:t>"Click Me"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btn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addActionListener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6CB6FF"/>
                </a:solidFill>
                <a:latin typeface="Consolas"/>
              </a:rPr>
              <a:t>new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ActionListener</a:t>
            </a:r>
            <a:r>
              <a:rPr sz="1250">
                <a:solidFill>
                  <a:srgbClr val="E6E9EF"/>
                </a:solidFill>
                <a:latin typeface="Consolas"/>
              </a:rPr>
              <a:t>()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6CB6FF"/>
                </a:solidFill>
                <a:latin typeface="Consolas"/>
              </a:rPr>
              <a:t>public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void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actionPerformed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E6E9EF"/>
                </a:solidFill>
                <a:latin typeface="Consolas"/>
              </a:rPr>
              <a:t>ActionEvent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e</a:t>
            </a:r>
            <a:r>
              <a:rPr sz="1250">
                <a:solidFill>
                  <a:srgbClr val="E6E9EF"/>
                </a:solidFill>
                <a:latin typeface="Consolas"/>
              </a:rPr>
              <a:t>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  </a:t>
            </a:r>
            <a:r>
              <a:rPr sz="1250">
                <a:solidFill>
                  <a:srgbClr val="E6E9EF"/>
                </a:solidFill>
                <a:latin typeface="Consolas"/>
              </a:rPr>
              <a:t>System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out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println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7EE787"/>
                </a:solidFill>
                <a:latin typeface="Consolas"/>
              </a:rPr>
              <a:t>"The button was successfully clicked!"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});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4 —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Event Handling — Complete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11201400" cy="498348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46304" cy="498348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9248"/>
            <a:ext cx="108356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B9C2D4"/>
                </a:solidFill>
                <a:latin typeface="Consolas"/>
              </a:rPr>
              <a:t>EventExample.java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28648"/>
            <a:ext cx="10835640" cy="457708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6CB6FF"/>
                </a:solidFill>
                <a:latin typeface="Consolas"/>
              </a:rPr>
              <a:t>import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java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awt</a:t>
            </a:r>
            <a:r>
              <a:rPr sz="1250">
                <a:solidFill>
                  <a:srgbClr val="E6E9EF"/>
                </a:solidFill>
                <a:latin typeface="Consolas"/>
              </a:rPr>
              <a:t>.*;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6CB6FF"/>
                </a:solidFill>
                <a:latin typeface="Consolas"/>
              </a:rPr>
              <a:t>import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java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awt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event</a:t>
            </a:r>
            <a:r>
              <a:rPr sz="1250">
                <a:solidFill>
                  <a:srgbClr val="E6E9EF"/>
                </a:solidFill>
                <a:latin typeface="Consolas"/>
              </a:rPr>
              <a:t>.*;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625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6CB6FF"/>
                </a:solidFill>
                <a:latin typeface="Consolas"/>
              </a:rPr>
              <a:t>public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class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EventExample</a:t>
            </a:r>
            <a:r>
              <a:rPr sz="125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</a:t>
            </a:r>
            <a:r>
              <a:rPr sz="1250">
                <a:solidFill>
                  <a:srgbClr val="6CB6FF"/>
                </a:solidFill>
                <a:latin typeface="Consolas"/>
              </a:rPr>
              <a:t>public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static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void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main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6CB6FF"/>
                </a:solidFill>
                <a:latin typeface="Consolas"/>
              </a:rPr>
              <a:t>String</a:t>
            </a:r>
            <a:r>
              <a:rPr sz="1250">
                <a:solidFill>
                  <a:srgbClr val="E6E9EF"/>
                </a:solidFill>
                <a:latin typeface="Consolas"/>
              </a:rPr>
              <a:t>[] </a:t>
            </a:r>
            <a:r>
              <a:rPr sz="1250">
                <a:solidFill>
                  <a:srgbClr val="E6E9EF"/>
                </a:solidFill>
                <a:latin typeface="Consolas"/>
              </a:rPr>
              <a:t>args</a:t>
            </a:r>
            <a:r>
              <a:rPr sz="1250">
                <a:solidFill>
                  <a:srgbClr val="E6E9EF"/>
                </a:solidFill>
                <a:latin typeface="Consolas"/>
              </a:rPr>
              <a:t>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E6E9EF"/>
                </a:solidFill>
                <a:latin typeface="Consolas"/>
              </a:rPr>
              <a:t>Frame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frame</a:t>
            </a:r>
            <a:r>
              <a:rPr sz="1250">
                <a:solidFill>
                  <a:srgbClr val="E6E9EF"/>
                </a:solidFill>
                <a:latin typeface="Consolas"/>
              </a:rPr>
              <a:t> = </a:t>
            </a:r>
            <a:r>
              <a:rPr sz="1250">
                <a:solidFill>
                  <a:srgbClr val="6CB6FF"/>
                </a:solidFill>
                <a:latin typeface="Consolas"/>
              </a:rPr>
              <a:t>new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Frame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7EE787"/>
                </a:solidFill>
                <a:latin typeface="Consolas"/>
              </a:rPr>
              <a:t>"Event Example"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E6E9EF"/>
                </a:solidFill>
                <a:latin typeface="Consolas"/>
              </a:rPr>
              <a:t>Button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btn</a:t>
            </a:r>
            <a:r>
              <a:rPr sz="1250">
                <a:solidFill>
                  <a:srgbClr val="E6E9EF"/>
                </a:solidFill>
                <a:latin typeface="Consolas"/>
              </a:rPr>
              <a:t> = </a:t>
            </a:r>
            <a:r>
              <a:rPr sz="1250">
                <a:solidFill>
                  <a:srgbClr val="6CB6FF"/>
                </a:solidFill>
                <a:latin typeface="Consolas"/>
              </a:rPr>
              <a:t>new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Button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7EE787"/>
                </a:solidFill>
                <a:latin typeface="Consolas"/>
              </a:rPr>
              <a:t>"Click Me"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625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    // Step 2 &amp; 3: implement and register the listener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E6E9EF"/>
                </a:solidFill>
                <a:latin typeface="Consolas"/>
              </a:rPr>
              <a:t>btn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addActionListener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6CB6FF"/>
                </a:solidFill>
                <a:latin typeface="Consolas"/>
              </a:rPr>
              <a:t>new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ActionListener</a:t>
            </a:r>
            <a:r>
              <a:rPr sz="1250">
                <a:solidFill>
                  <a:srgbClr val="E6E9EF"/>
                </a:solidFill>
                <a:latin typeface="Consolas"/>
              </a:rPr>
              <a:t>()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8A93A6"/>
                </a:solidFill>
                <a:latin typeface="Consolas"/>
              </a:rPr>
              <a:t>      // Step 4: define the callback logic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</a:t>
            </a:r>
            <a:r>
              <a:rPr sz="1250">
                <a:solidFill>
                  <a:srgbClr val="6CB6FF"/>
                </a:solidFill>
                <a:latin typeface="Consolas"/>
              </a:rPr>
              <a:t>public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6CB6FF"/>
                </a:solidFill>
                <a:latin typeface="Consolas"/>
              </a:rPr>
              <a:t>void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actionPerformed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E6E9EF"/>
                </a:solidFill>
                <a:latin typeface="Consolas"/>
              </a:rPr>
              <a:t>ActionEvent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e</a:t>
            </a:r>
            <a:r>
              <a:rPr sz="1250">
                <a:solidFill>
                  <a:srgbClr val="E6E9EF"/>
                </a:solidFill>
                <a:latin typeface="Consolas"/>
              </a:rPr>
              <a:t>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  </a:t>
            </a:r>
            <a:r>
              <a:rPr sz="1250">
                <a:solidFill>
                  <a:srgbClr val="E6E9EF"/>
                </a:solidFill>
                <a:latin typeface="Consolas"/>
              </a:rPr>
              <a:t>System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out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println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7EE787"/>
                </a:solidFill>
                <a:latin typeface="Consolas"/>
              </a:rPr>
              <a:t>"The button was successfully clicked!"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});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625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E6E9EF"/>
                </a:solidFill>
                <a:latin typeface="Consolas"/>
              </a:rPr>
              <a:t>frame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add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E6E9EF"/>
                </a:solidFill>
                <a:latin typeface="Consolas"/>
              </a:rPr>
              <a:t>btn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E6E9EF"/>
                </a:solidFill>
                <a:latin typeface="Consolas"/>
              </a:rPr>
              <a:t>frame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setSize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E6E9EF"/>
                </a:solidFill>
                <a:latin typeface="Consolas"/>
              </a:rPr>
              <a:t>200</a:t>
            </a:r>
            <a:r>
              <a:rPr sz="1250">
                <a:solidFill>
                  <a:srgbClr val="E6E9EF"/>
                </a:solidFill>
                <a:latin typeface="Consolas"/>
              </a:rPr>
              <a:t>, </a:t>
            </a:r>
            <a:r>
              <a:rPr sz="1250">
                <a:solidFill>
                  <a:srgbClr val="E6E9EF"/>
                </a:solidFill>
                <a:latin typeface="Consolas"/>
              </a:rPr>
              <a:t>200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E6E9EF"/>
                </a:solidFill>
                <a:latin typeface="Consolas"/>
              </a:rPr>
              <a:t>frame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setLayout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6CB6FF"/>
                </a:solidFill>
                <a:latin typeface="Consolas"/>
              </a:rPr>
              <a:t>new</a:t>
            </a:r>
            <a:r>
              <a:rPr sz="1250">
                <a:solidFill>
                  <a:srgbClr val="E6E9EF"/>
                </a:solidFill>
                <a:latin typeface="Consolas"/>
              </a:rPr>
              <a:t> </a:t>
            </a:r>
            <a:r>
              <a:rPr sz="1250">
                <a:solidFill>
                  <a:srgbClr val="E6E9EF"/>
                </a:solidFill>
                <a:latin typeface="Consolas"/>
              </a:rPr>
              <a:t>FlowLayout</a:t>
            </a:r>
            <a:r>
              <a:rPr sz="1250">
                <a:solidFill>
                  <a:srgbClr val="E6E9EF"/>
                </a:solidFill>
                <a:latin typeface="Consolas"/>
              </a:rPr>
              <a:t>());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  </a:t>
            </a:r>
            <a:r>
              <a:rPr sz="1250">
                <a:solidFill>
                  <a:srgbClr val="E6E9EF"/>
                </a:solidFill>
                <a:latin typeface="Consolas"/>
              </a:rPr>
              <a:t>frame</a:t>
            </a:r>
            <a:r>
              <a:rPr sz="1250">
                <a:solidFill>
                  <a:srgbClr val="E6E9EF"/>
                </a:solidFill>
                <a:latin typeface="Consolas"/>
              </a:rPr>
              <a:t>.</a:t>
            </a:r>
            <a:r>
              <a:rPr sz="1250">
                <a:solidFill>
                  <a:srgbClr val="E6E9EF"/>
                </a:solidFill>
                <a:latin typeface="Consolas"/>
              </a:rPr>
              <a:t>setVisible</a:t>
            </a:r>
            <a:r>
              <a:rPr sz="1250">
                <a:solidFill>
                  <a:srgbClr val="E6E9EF"/>
                </a:solidFill>
                <a:latin typeface="Consolas"/>
              </a:rPr>
              <a:t>(</a:t>
            </a:r>
            <a:r>
              <a:rPr sz="1250">
                <a:solidFill>
                  <a:srgbClr val="6CB6FF"/>
                </a:solidFill>
                <a:latin typeface="Consolas"/>
              </a:rPr>
              <a:t>true</a:t>
            </a:r>
            <a:r>
              <a:rPr sz="125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5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4 —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Applet: Three Stacked Rectangles (Flag)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7680960" cy="4983480"/>
          </a:xfrm>
          <a:prstGeom prst="rect">
            <a:avLst/>
          </a:prstGeom>
          <a:solidFill>
            <a:srgbClr val="1E2430"/>
          </a:solidFill>
          <a:ln w="9525">
            <a:solidFill>
              <a:srgbClr val="33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46304" cy="498348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924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B9C2D4"/>
                </a:solidFill>
                <a:latin typeface="Consolas"/>
              </a:rPr>
              <a:t>FlagApplet.java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28648"/>
            <a:ext cx="7315200" cy="4577080"/>
          </a:xfrm>
          <a:prstGeom prst="rect">
            <a:avLst/>
          </a:prstGeom>
          <a:noFill/>
        </p:spPr>
        <p:txBody>
          <a:bodyPr wrap="square" lIns="25400" tIns="0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import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java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applet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Applet</a:t>
            </a:r>
            <a:r>
              <a:rPr sz="120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import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java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awt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Color</a:t>
            </a:r>
            <a:r>
              <a:rPr sz="120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import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java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awt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Graphics</a:t>
            </a:r>
            <a:r>
              <a:rPr sz="1200">
                <a:solidFill>
                  <a:srgbClr val="E6E9EF"/>
                </a:solidFill>
                <a:latin typeface="Consolas"/>
              </a:rPr>
              <a:t>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600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8A93A6"/>
                </a:solidFill>
                <a:latin typeface="Consolas"/>
              </a:rPr>
              <a:t>// Run via an Applet Viewer or an HTML wrapper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6CB6FF"/>
                </a:solidFill>
                <a:latin typeface="Consolas"/>
              </a:rPr>
              <a:t>public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class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FlagApplet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extends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Applet</a:t>
            </a:r>
            <a:r>
              <a:rPr sz="1200">
                <a:solidFill>
                  <a:srgbClr val="E6E9EF"/>
                </a:solidFill>
                <a:latin typeface="Consolas"/>
              </a:rPr>
              <a:t>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@</a:t>
            </a:r>
            <a:r>
              <a:rPr sz="1200">
                <a:solidFill>
                  <a:srgbClr val="E6E9EF"/>
                </a:solidFill>
                <a:latin typeface="Consolas"/>
              </a:rPr>
              <a:t>Override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</a:t>
            </a:r>
            <a:r>
              <a:rPr sz="1200">
                <a:solidFill>
                  <a:srgbClr val="6CB6FF"/>
                </a:solidFill>
                <a:latin typeface="Consolas"/>
              </a:rPr>
              <a:t>public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6CB6FF"/>
                </a:solidFill>
                <a:latin typeface="Consolas"/>
              </a:rPr>
              <a:t>void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paint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Graphics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) {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setColor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Color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orange</a:t>
            </a:r>
            <a:r>
              <a:rPr sz="1200">
                <a:solidFill>
                  <a:srgbClr val="E6E9EF"/>
                </a:solidFill>
                <a:latin typeface="Consolas"/>
              </a:rPr>
              <a:t>);            // </a:t>
            </a:r>
            <a:r>
              <a:rPr sz="1200">
                <a:solidFill>
                  <a:srgbClr val="E6E9EF"/>
                </a:solidFill>
                <a:latin typeface="Consolas"/>
              </a:rPr>
              <a:t>top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band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fillRect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150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40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600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setColor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Color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white</a:t>
            </a:r>
            <a:r>
              <a:rPr sz="1200">
                <a:solidFill>
                  <a:srgbClr val="E6E9EF"/>
                </a:solidFill>
                <a:latin typeface="Consolas"/>
              </a:rPr>
              <a:t>);             // </a:t>
            </a:r>
            <a:r>
              <a:rPr sz="1200">
                <a:solidFill>
                  <a:srgbClr val="E6E9EF"/>
                </a:solidFill>
                <a:latin typeface="Consolas"/>
              </a:rPr>
              <a:t>middle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band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fillRect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90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150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40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600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setColor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Color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green</a:t>
            </a:r>
            <a:r>
              <a:rPr sz="1200">
                <a:solidFill>
                  <a:srgbClr val="E6E9EF"/>
                </a:solidFill>
                <a:latin typeface="Consolas"/>
              </a:rPr>
              <a:t>);             // </a:t>
            </a:r>
            <a:r>
              <a:rPr sz="1200">
                <a:solidFill>
                  <a:srgbClr val="E6E9EF"/>
                </a:solidFill>
                <a:latin typeface="Consolas"/>
              </a:rPr>
              <a:t>bottom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band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fillRect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130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150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40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600">
                <a:latin typeface="Consolas"/>
              </a:rPr>
              <a:t> 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setColor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Color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black</a:t>
            </a:r>
            <a:r>
              <a:rPr sz="1200">
                <a:solidFill>
                  <a:srgbClr val="E6E9EF"/>
                </a:solidFill>
                <a:latin typeface="Consolas"/>
              </a:rPr>
              <a:t>);             // </a:t>
            </a:r>
            <a:r>
              <a:rPr sz="1200">
                <a:solidFill>
                  <a:srgbClr val="E6E9EF"/>
                </a:solidFill>
                <a:latin typeface="Consolas"/>
              </a:rPr>
              <a:t>outer</a:t>
            </a:r>
            <a:r>
              <a:rPr sz="1200">
                <a:solidFill>
                  <a:srgbClr val="E6E9EF"/>
                </a:solidFill>
                <a:latin typeface="Consolas"/>
              </a:rPr>
              <a:t> </a:t>
            </a:r>
            <a:r>
              <a:rPr sz="1200">
                <a:solidFill>
                  <a:srgbClr val="E6E9EF"/>
                </a:solidFill>
                <a:latin typeface="Consolas"/>
              </a:rPr>
              <a:t>border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  </a:t>
            </a:r>
            <a:r>
              <a:rPr sz="1200">
                <a:solidFill>
                  <a:srgbClr val="E6E9EF"/>
                </a:solidFill>
                <a:latin typeface="Consolas"/>
              </a:rPr>
              <a:t>g</a:t>
            </a:r>
            <a:r>
              <a:rPr sz="1200">
                <a:solidFill>
                  <a:srgbClr val="E6E9EF"/>
                </a:solidFill>
                <a:latin typeface="Consolas"/>
              </a:rPr>
              <a:t>.</a:t>
            </a:r>
            <a:r>
              <a:rPr sz="1200">
                <a:solidFill>
                  <a:srgbClr val="E6E9EF"/>
                </a:solidFill>
                <a:latin typeface="Consolas"/>
              </a:rPr>
              <a:t>drawRect</a:t>
            </a:r>
            <a:r>
              <a:rPr sz="1200">
                <a:solidFill>
                  <a:srgbClr val="E6E9EF"/>
                </a:solidFill>
                <a:latin typeface="Consolas"/>
              </a:rPr>
              <a:t>(</a:t>
            </a:r>
            <a:r>
              <a:rPr sz="1200">
                <a:solidFill>
                  <a:srgbClr val="E6E9EF"/>
                </a:solidFill>
                <a:latin typeface="Consolas"/>
              </a:rPr>
              <a:t>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150</a:t>
            </a:r>
            <a:r>
              <a:rPr sz="1200">
                <a:solidFill>
                  <a:srgbClr val="E6E9EF"/>
                </a:solidFill>
                <a:latin typeface="Consolas"/>
              </a:rPr>
              <a:t>, </a:t>
            </a:r>
            <a:r>
              <a:rPr sz="1200">
                <a:solidFill>
                  <a:srgbClr val="E6E9EF"/>
                </a:solidFill>
                <a:latin typeface="Consolas"/>
              </a:rPr>
              <a:t>120</a:t>
            </a:r>
            <a:r>
              <a:rPr sz="1200">
                <a:solidFill>
                  <a:srgbClr val="E6E9EF"/>
                </a:solidFill>
                <a:latin typeface="Consolas"/>
              </a:rPr>
              <a:t>);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94000"/>
              </a:lnSpc>
              <a:spcAft>
                <a:spcPts val="0"/>
              </a:spcAft>
            </a:pPr>
            <a:r>
              <a:rPr sz="120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325880"/>
            <a:ext cx="3154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Calibri"/>
              </a:rPr>
              <a:t>RENDERED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3020" y="1790700"/>
            <a:ext cx="2407920" cy="19964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1828800"/>
            <a:ext cx="2331720" cy="64008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2468880"/>
            <a:ext cx="2331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3108960"/>
            <a:ext cx="2331720" cy="64008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977639"/>
            <a:ext cx="31546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Calibri"/>
              </a:rPr>
              <a:t>orange / white / green bands drawn with fillRect(), bordered by drawRect().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5 — a(i)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Servlet Life Cycle &amp; Instance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292608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800"/>
              </a:spcAft>
            </a:pPr>
            <a:r>
              <a:rPr sz="1650" b="1">
                <a:solidFill>
                  <a:srgbClr val="0052CC"/>
                </a:solidFill>
                <a:latin typeface="Calibri"/>
              </a:rPr>
              <a:t>▸  </a:t>
            </a:r>
            <a:r>
              <a:rPr sz="1650" b="0">
                <a:solidFill>
                  <a:srgbClr val="0B1F3A"/>
                </a:solidFill>
                <a:latin typeface="Calibri"/>
              </a:rPr>
              <a:t>Four deterministic phases, </a:t>
            </a:r>
            <a:r>
              <a:rPr sz="1650" b="1">
                <a:solidFill>
                  <a:srgbClr val="0B1F3A"/>
                </a:solidFill>
                <a:latin typeface="Calibri"/>
              </a:rPr>
              <a:t>managed entirely by the container (Tomcat):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50" b="1">
                <a:solidFill>
                  <a:srgbClr val="F28C00"/>
                </a:solidFill>
                <a:latin typeface="Calibri"/>
              </a:rPr>
              <a:t>–  </a:t>
            </a:r>
            <a:r>
              <a:rPr sz="1550" b="1">
                <a:solidFill>
                  <a:srgbClr val="4A5568"/>
                </a:solidFill>
                <a:latin typeface="Calibri"/>
              </a:rPr>
              <a:t>Loading &amp; Instantiation — </a:t>
            </a:r>
            <a:r>
              <a:rPr sz="1550" b="0">
                <a:solidFill>
                  <a:srgbClr val="4A5568"/>
                </a:solidFill>
                <a:latin typeface="Calibri"/>
              </a:rPr>
              <a:t>loads the class, creates a single instance in memory.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50" b="1">
                <a:solidFill>
                  <a:srgbClr val="F28C00"/>
                </a:solidFill>
                <a:latin typeface="Calibri"/>
              </a:rPr>
              <a:t>–  </a:t>
            </a:r>
            <a:r>
              <a:rPr sz="1550" b="1">
                <a:solidFill>
                  <a:srgbClr val="4A5568"/>
                </a:solidFill>
                <a:latin typeface="Calibri"/>
              </a:rPr>
              <a:t>Initialization — </a:t>
            </a:r>
            <a:r>
              <a:rPr sz="1550" b="0">
                <a:solidFill>
                  <a:srgbClr val="4A5568"/>
                </a:solidFill>
                <a:latin typeface="Calibri"/>
              </a:rPr>
              <a:t>init() called once for bootstrapping (e.g. DB connections).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50" b="1">
                <a:solidFill>
                  <a:srgbClr val="F28C00"/>
                </a:solidFill>
                <a:latin typeface="Calibri"/>
              </a:rPr>
              <a:t>–  </a:t>
            </a:r>
            <a:r>
              <a:rPr sz="1550" b="1">
                <a:solidFill>
                  <a:srgbClr val="4A5568"/>
                </a:solidFill>
                <a:latin typeface="Calibri"/>
              </a:rPr>
              <a:t>Request Handling — </a:t>
            </a:r>
            <a:r>
              <a:rPr sz="1550" b="0">
                <a:solidFill>
                  <a:srgbClr val="4A5568"/>
                </a:solidFill>
                <a:latin typeface="Calibri"/>
              </a:rPr>
              <a:t>service() processes traffic, routing to doGet() / doPost().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50" b="1">
                <a:solidFill>
                  <a:srgbClr val="F28C00"/>
                </a:solidFill>
                <a:latin typeface="Calibri"/>
              </a:rPr>
              <a:t>–  </a:t>
            </a:r>
            <a:r>
              <a:rPr sz="1550" b="1">
                <a:solidFill>
                  <a:srgbClr val="4A5568"/>
                </a:solidFill>
                <a:latin typeface="Calibri"/>
              </a:rPr>
              <a:t>Destruction — </a:t>
            </a:r>
            <a:r>
              <a:rPr sz="1550" b="0">
                <a:solidFill>
                  <a:srgbClr val="4A5568"/>
                </a:solidFill>
                <a:latin typeface="Calibri"/>
              </a:rPr>
              <a:t>destroy() called once to release memory &amp; network resources.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97680"/>
            <a:ext cx="11201400" cy="178308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052CC"/>
                </a:solidFill>
                <a:latin typeface="Calibri"/>
              </a:rPr>
              <a:t>Instance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0B1F3A"/>
                </a:solidFill>
                <a:latin typeface="Calibri"/>
              </a:rPr>
              <a:t>The container does NOT create a new Servlet per user. It keeps a single instance in memory and spawns multiple lightweight Java threads, routing each through the service() method of that one instance — ensuring high concurrency and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5 — a(ii)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HTTP GET vs POST in Java Servlets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286000" cy="10515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22860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4297680" cy="105156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527048"/>
            <a:ext cx="40233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doGet(): fetch / retrieve data from the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417320"/>
            <a:ext cx="4343400" cy="105156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527048"/>
            <a:ext cx="40690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doPost(): send, update, or submit data to the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2286000" cy="10515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22860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Data Visibility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606040"/>
            <a:ext cx="4297680" cy="105156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715768"/>
            <a:ext cx="40233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Parameters appended to &amp; visible in the URL.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606040"/>
            <a:ext cx="4343400" cy="105156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715768"/>
            <a:ext cx="40690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Parameters hidden in the HTTP message body — safer.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94760"/>
            <a:ext cx="2286000" cy="10515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94760"/>
            <a:ext cx="22860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Payload 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794760"/>
            <a:ext cx="4297680" cy="105156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904488"/>
            <a:ext cx="40233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Limited by max URL length (a few KB).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794760"/>
            <a:ext cx="4343400" cy="105156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904488"/>
            <a:ext cx="40690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Theoretically unlimited — needed for large forms / uploads.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83480"/>
            <a:ext cx="2286000" cy="10515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83480"/>
            <a:ext cx="228600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Caching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983480"/>
            <a:ext cx="4297680" cy="105156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5093208"/>
            <a:ext cx="402336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0B1F3A"/>
                </a:solidFill>
                <a:latin typeface="Calibri"/>
              </a:rPr>
              <a:t>Can be cached, bookmarked &amp; kept in history.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4983480"/>
            <a:ext cx="4343400" cy="105156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5093208"/>
            <a:ext cx="40690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Calibri"/>
              </a:rPr>
              <a:t>Not bookmarkable; caching discouraged to avoid duplicates.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5 —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Architecture of Java RMI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>
                <a:solidFill>
                  <a:srgbClr val="4A5568"/>
                </a:solidFill>
                <a:latin typeface="Calibri"/>
              </a:rPr>
              <a:t>A multi-layered system letting an object in one JVM invoke methods on an object in a separate, remote JVM: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66751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128016" cy="5669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2788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B1F3A"/>
                </a:solidFill>
                <a:latin typeface="Calibri"/>
              </a:rPr>
              <a:t>1 · 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74519"/>
            <a:ext cx="35661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Calibri"/>
              </a:rPr>
              <a:t>The actual client and server code written by the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51175"/>
            <a:ext cx="66751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51175"/>
            <a:ext cx="128016" cy="566928"/>
          </a:xfrm>
          <a:prstGeom prst="rect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51175"/>
            <a:ext cx="2788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28C00"/>
                </a:solidFill>
                <a:latin typeface="Calibri"/>
              </a:rPr>
              <a:t>2 · Proxy Layer (Stub &amp; Skeleton)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51175"/>
            <a:ext cx="35661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Calibri"/>
              </a:rPr>
              <a:t>Core mechanism: client-side Stub = local proxy; server-side Skeleton = receiver.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27831"/>
            <a:ext cx="66751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27831"/>
            <a:ext cx="128016" cy="56692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27831"/>
            <a:ext cx="2788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052CC"/>
                </a:solidFill>
                <a:latin typeface="Calibri"/>
              </a:rPr>
              <a:t>3 · Remote Reference Layer (RRL)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227831"/>
            <a:ext cx="35661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Calibri"/>
              </a:rPr>
              <a:t>Manages the semantic object references across the network.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04486"/>
            <a:ext cx="66751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04486"/>
            <a:ext cx="128016" cy="566928"/>
          </a:xfrm>
          <a:prstGeom prst="rect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04486"/>
            <a:ext cx="2788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B7A3B"/>
                </a:solidFill>
                <a:latin typeface="Calibri"/>
              </a:rPr>
              <a:t>4 · Transport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904486"/>
            <a:ext cx="35661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Calibri"/>
              </a:rPr>
              <a:t>The underlying TCP/IP sockets that physically move the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1874519"/>
            <a:ext cx="4297680" cy="2706624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2011680"/>
            <a:ext cx="3931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How communication 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423160"/>
            <a:ext cx="393192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Client calls a method → Stub marshals (serializes) name &amp; params into a byte stream → Transport Layer sends it → Skeleton unmarshals &amp; invokes the real method → return value marshaled back to the Stub → unmarshaled &amp; handed to the client.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7000" cy="105156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515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9FC1F0"/>
                </a:solidFill>
                <a:latin typeface="Calibri"/>
              </a:rPr>
              <a:t>QUESTION 5 —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Architecture of JDBC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400800" cy="2743200"/>
          </a:xfrm>
          <a:prstGeom prst="rect">
            <a:avLst/>
          </a:prstGeom>
          <a:noFill/>
        </p:spPr>
        <p:txBody>
          <a:bodyPr wrap="square" lIns="25400" rIns="25400" tIns="25400">
            <a:spAutoFit/>
          </a:bodyPr>
          <a:lstStyle/>
          <a:p>
            <a:pPr marL="0" indent="0"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0052CC"/>
                </a:solidFill>
                <a:latin typeface="Calibri"/>
              </a:rPr>
              <a:t>▸  </a:t>
            </a:r>
            <a:r>
              <a:rPr sz="1600" b="1">
                <a:solidFill>
                  <a:srgbClr val="0B1F3A"/>
                </a:solidFill>
                <a:latin typeface="Calibri"/>
              </a:rPr>
              <a:t>Two main components: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F28C00"/>
                </a:solidFill>
                <a:latin typeface="Calibri"/>
              </a:rPr>
              <a:t>–  </a:t>
            </a:r>
            <a:r>
              <a:rPr sz="1500" b="1">
                <a:solidFill>
                  <a:srgbClr val="0052CC"/>
                </a:solidFill>
                <a:latin typeface="Calibri"/>
              </a:rPr>
              <a:t>JDBC API </a:t>
            </a:r>
            <a:r>
              <a:rPr sz="1500" b="0">
                <a:solidFill>
                  <a:srgbClr val="4A5568"/>
                </a:solidFill>
                <a:latin typeface="Calibri"/>
              </a:rPr>
              <a:t>— used by the Java developer.</a:t>
            </a:r>
          </a:p>
          <a:p>
            <a:pPr lvl="1" marL="292608" indent="0">
              <a:lnSpc>
                <a:spcPct val="106000"/>
              </a:lnSpc>
              <a:spcAft>
                <a:spcPts val="600"/>
              </a:spcAft>
            </a:pPr>
            <a:r>
              <a:rPr sz="1500" b="1">
                <a:solidFill>
                  <a:srgbClr val="F28C00"/>
                </a:solidFill>
                <a:latin typeface="Calibri"/>
              </a:rPr>
              <a:t>–  </a:t>
            </a:r>
            <a:r>
              <a:rPr sz="1500" b="1">
                <a:solidFill>
                  <a:srgbClr val="F28C00"/>
                </a:solidFill>
                <a:latin typeface="Calibri"/>
              </a:rPr>
              <a:t>JDBC Driver </a:t>
            </a:r>
            <a:r>
              <a:rPr sz="1500" b="0">
                <a:solidFill>
                  <a:srgbClr val="4A5568"/>
                </a:solidFill>
                <a:latin typeface="Calibri"/>
              </a:rPr>
              <a:t>— translates API calls into the DB's proprietary protocol.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0052CC"/>
                </a:solidFill>
                <a:latin typeface="Calibri"/>
              </a:rPr>
              <a:t>▸  </a:t>
            </a:r>
            <a:r>
              <a:rPr sz="1600" b="0">
                <a:solidFill>
                  <a:srgbClr val="0B1F3A"/>
                </a:solidFill>
                <a:latin typeface="Calibri"/>
              </a:rPr>
              <a:t>Deployed as </a:t>
            </a:r>
            <a:r>
              <a:rPr sz="1600" b="1">
                <a:solidFill>
                  <a:srgbClr val="0B1F3A"/>
                </a:solidFill>
                <a:latin typeface="Calibri"/>
              </a:rPr>
              <a:t>2-tier</a:t>
            </a:r>
            <a:r>
              <a:rPr sz="1600" b="0">
                <a:solidFill>
                  <a:srgbClr val="0B1F3A"/>
                </a:solidFill>
                <a:latin typeface="Calibri"/>
              </a:rPr>
              <a:t> (direct Java→DB) or </a:t>
            </a:r>
            <a:r>
              <a:rPr sz="1600" b="1">
                <a:solidFill>
                  <a:srgbClr val="0B1F3A"/>
                </a:solidFill>
                <a:latin typeface="Calibri"/>
              </a:rPr>
              <a:t>3-tier</a:t>
            </a:r>
            <a:r>
              <a:rPr sz="1600" b="0">
                <a:solidFill>
                  <a:srgbClr val="0B1F3A"/>
                </a:solidFill>
                <a:latin typeface="Calibri"/>
              </a:rPr>
              <a:t> (Java→app server→DB).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023360"/>
            <a:ext cx="6400800" cy="2103120"/>
          </a:xfrm>
          <a:prstGeom prst="round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052CC"/>
                </a:solidFill>
                <a:latin typeface="Calibri"/>
              </a:rPr>
              <a:t>How communication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943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DriverManager locates &amp; loads the right driver (Type 1–4) from the connection string → Statement / PreparedStatement dispatch SQL → driver translates SQL to the DB's native language → results return in a ResultSet for seamless row-by-row iteration.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Calibri"/>
              </a:rPr>
              <a:t>REQUEST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73736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Java Application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89719" y="2322576"/>
            <a:ext cx="548640" cy="146304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260604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JDBC 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89719" y="3191256"/>
            <a:ext cx="548640" cy="146304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347472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DriverManager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89719" y="4059936"/>
            <a:ext cx="548640" cy="146304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0" y="4343399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JDBC Driver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189719" y="4928615"/>
            <a:ext cx="548640" cy="146304"/>
          </a:xfrm>
          <a:prstGeom prst="rightArrow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5212080"/>
            <a:ext cx="3200400" cy="548640"/>
          </a:xfrm>
          <a:prstGeom prst="roundRect">
            <a:avLst>
              <a:gd name="adj" fmla="val 12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4A5568"/>
                </a:solidFill>
                <a:latin typeface="Calibri"/>
              </a:rPr>
              <a:t>Advanced Java Architecture &amp; Enterprise Technologies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4A556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